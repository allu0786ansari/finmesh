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0d49aa7-27b6-0fd7-3aed-29b8ae9f3b40}">
          <p14:sldIdLst>
            <p14:sldId id="256"/>
          </p14:sldIdLst>
        </p14:section>
        <p14:section name="Problem" id="{aad2e50d-e11b-6e54-18fb-1de05abf91ae}">
          <p14:sldIdLst>
            <p14:sldId id="257"/>
          </p14:sldIdLst>
        </p14:section>
        <p14:section name="Background" id="{ada4de4a-197c-145b-4fb6-37330e057ea2}">
          <p14:sldIdLst>
            <p14:sldId id="258"/>
          </p14:sldIdLst>
        </p14:section>
        <p14:section name="Goals" id="{97819f98-eb47-c8d4-3a28-0447e21c4eb8}">
          <p14:sldIdLst>
            <p14:sldId id="259"/>
          </p14:sldIdLst>
        </p14:section>
        <p14:section name="Solution" id="{f7ed1ed3-9e08-5f13-3f91-8af28ca6abf6}">
          <p14:sldIdLst>
            <p14:sldId id="260"/>
            <p14:sldId id="261"/>
          </p14:sldIdLst>
        </p14:section>
        <p14:section name="Progress" id="{64bd5c8e-39a0-8811-179e-e023d6b23465}">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question: banks want to catch money launderers who spread their activity across several banks, but they cannot pool customer data. FinMesh measures what they should share and how much each kind of shared information reveals.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banks: each sees a normal-looking fragment. Only together do they reveal the scheme. Pooling the data solves detection but breaks privacy rules. Regulators now allow sharing, so the open question is WHAT to share. Read the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strands of work. Detection models assume a global view. Collaboration papers show sharing helps but each tests one mechanism and never attacks it. DP protects single records. Attacks are applied to models, not to shared evidence. Industry pilots (Swift, BIS Aurora, PETs Prize) report gains only. Our gap: measure both gain and leakage across sharing levels on one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each tied to the problem: measure the trade-off (the headline), match accounts privately, train a private shared model, explain alerts, and build a prototype. SDG 16.4 is the direct link: laundering is an illicit financial flow. SDG 8.10 because stronger AML strengthens financial institutions, and SDG 9.5 for research and technology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of the pipeline. Then the ladder: S0 shares nothing, S1 only says 'we flagged it too', S2 sends a minimal record, S3 the same record with local differential privacy noise, S4 learned embeddings, and PD only escalates when the requester's own evidence is strong. The research question is where on this ladder banks should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method groups. Data: AMLworld because real bank data has incomplete labels. Detection: graph features plus gradient boosting. Matching: OPRF so no bank can hash candidate account numbers offline. Privacy: local DP for the shared record; DP-SGD for the shared model, protecting whole accounts, with a degree cap. Attacks measure leakage. Evaluation is pre-registered with a sealed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1-9 are complete with three gates passed; the federated DP study is in its final run. Results are on validation data; the sealed test is opened once in week 18. Highlights: sharing only alert flags lifts linked detection from 0.17 to 0.73 and reaches 97% of the benefit of pooling all data, while full records leak account traits (for example, whether an account receives from unusually many senders). OPRF matching is 11 times safer than hashing. Capping each account's connections cuts its influence on others from 3,750 accounts to 11. Next: attribution and narratives, the analyst console, then the sealed test and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M_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M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94392" cy="73152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FinMesh · Batch B58 · Review 0</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tile"/>
          <p:cNvSpPr/>
          <p:nvPr/>
        </p:nvSpPr>
        <p:spPr>
          <a:xfrm>
            <a:off x="10268712" y="457200"/>
            <a:ext cx="1371600" cy="1188720"/>
          </a:xfrm>
          <a:prstGeom prst="roundRect">
            <a:avLst>
              <a:gd name="adj" fmla="val 9231"/>
            </a:avLst>
          </a:prstGeom>
          <a:solidFill>
            <a:schemeClr val="bg1"/>
          </a:solidFill>
          <a:ln w="12700">
            <a:solidFill>
              <a:schemeClr val="bg1"/>
            </a:solidFill>
            <a:prstDash val="solid"/>
          </a:ln>
        </p:spPr>
      </p:sp>
      <p:pic>
        <p:nvPicPr>
          <p:cNvPr id="3" name="SRM logo" descr="/tmp/claude-0/-home-claude/6bf7d5da-447a-541d-ba1c-7c45e5253717/scratchpad/review0/srm_logo.png">    </p:cNvPr>
          <p:cNvPicPr>
            <a:picLocks noChangeAspect="1"/>
          </p:cNvPicPr>
          <p:nvPr/>
        </p:nvPicPr>
        <p:blipFill>
          <a:blip r:embed="rId1"/>
          <a:stretch>
            <a:fillRect/>
          </a:stretch>
        </p:blipFill>
        <p:spPr>
          <a:xfrm>
            <a:off x="10378440" y="530352"/>
            <a:ext cx="1152144" cy="964692"/>
          </a:xfrm>
          <a:prstGeom prst="rect">
            <a:avLst/>
          </a:prstGeom>
        </p:spPr>
      </p:pic>
      <p:sp>
        <p:nvSpPr>
          <p:cNvPr id="4" name="Text 1"/>
          <p:cNvSpPr txBox="1"/>
          <p:nvPr/>
        </p:nvSpPr>
        <p:spPr>
          <a:xfrm>
            <a:off x="548640" y="548640"/>
            <a:ext cx="7772400" cy="365760"/>
          </a:xfrm>
          <a:prstGeom prst="rect">
            <a:avLst/>
          </a:prstGeom>
          <a:noFill/>
          <a:ln/>
        </p:spPr>
        <p:txBody>
          <a:bodyPr wrap="square" lIns="0" tIns="0" rIns="0" bIns="0" rtlCol="0" anchor="ctr"/>
          <a:lstStyle/>
          <a:p>
            <a:pPr indent="0" marL="0">
              <a:buNone/>
            </a:pPr>
            <a:r>
              <a:rPr lang="en-US" sz="1400" dirty="0">
                <a:solidFill>
                  <a:schemeClr val="accent6"/>
                </a:solidFill>
              </a:rPr>
              <a:t>SRM Institute of Science and Technology · School of Computing</a:t>
            </a:r>
            <a:endParaRPr lang="en-US" sz="1400" dirty="0"/>
          </a:p>
        </p:txBody>
      </p:sp>
      <p:sp>
        <p:nvSpPr>
          <p:cNvPr id="5" name="Text 2"/>
          <p:cNvSpPr txBox="1"/>
          <p:nvPr/>
        </p:nvSpPr>
        <p:spPr>
          <a:xfrm>
            <a:off x="548640" y="914400"/>
            <a:ext cx="7772400" cy="365760"/>
          </a:xfrm>
          <a:prstGeom prst="rect">
            <a:avLst/>
          </a:prstGeom>
          <a:noFill/>
          <a:ln/>
        </p:spPr>
        <p:txBody>
          <a:bodyPr wrap="square" lIns="0" tIns="0" rIns="0" bIns="0" rtlCol="0" anchor="ctr"/>
          <a:lstStyle/>
          <a:p>
            <a:pPr indent="0" marL="0">
              <a:buNone/>
            </a:pPr>
            <a:r>
              <a:rPr lang="en-US" sz="1400" dirty="0">
                <a:solidFill>
                  <a:schemeClr val="accent6"/>
                </a:solidFill>
              </a:rPr>
              <a:t>Major Project · Zeroth Review</a:t>
            </a:r>
            <a:endParaRPr lang="en-US" sz="1400" dirty="0"/>
          </a:p>
        </p:txBody>
      </p:sp>
      <p:sp>
        <p:nvSpPr>
          <p:cNvPr id="6" name="Text 3"/>
          <p:cNvSpPr txBox="1"/>
          <p:nvPr/>
        </p:nvSpPr>
        <p:spPr>
          <a:xfrm>
            <a:off x="548640" y="1783080"/>
            <a:ext cx="9144000" cy="91440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FinMesh</a:t>
            </a:r>
            <a:endParaRPr lang="en-US" sz="5400" dirty="0"/>
          </a:p>
        </p:txBody>
      </p:sp>
      <p:sp>
        <p:nvSpPr>
          <p:cNvPr id="7" name="Text 4"/>
          <p:cNvSpPr txBox="1"/>
          <p:nvPr/>
        </p:nvSpPr>
        <p:spPr>
          <a:xfrm>
            <a:off x="548640" y="2697480"/>
            <a:ext cx="10515600" cy="548640"/>
          </a:xfrm>
          <a:prstGeom prst="rect">
            <a:avLst/>
          </a:prstGeom>
          <a:noFill/>
          <a:ln/>
        </p:spPr>
        <p:txBody>
          <a:bodyPr wrap="square" lIns="0" tIns="0" rIns="0" bIns="0" rtlCol="0" anchor="ctr"/>
          <a:lstStyle/>
          <a:p>
            <a:pPr indent="0" marL="0">
              <a:buNone/>
            </a:pPr>
            <a:r>
              <a:rPr lang="en-US" sz="2600" dirty="0">
                <a:solidFill>
                  <a:schemeClr val="bg1"/>
                </a:solidFill>
                <a:latin typeface="Cambria" pitchFamily="34" charset="0"/>
                <a:ea typeface="Cambria" pitchFamily="34" charset="-122"/>
                <a:cs typeface="Cambria" pitchFamily="34" charset="-120"/>
              </a:rPr>
              <a:t>Privacy-Preserving Cross-Bank Detection of Money Laundering</a:t>
            </a:r>
            <a:endParaRPr lang="en-US" sz="2600" dirty="0"/>
          </a:p>
        </p:txBody>
      </p:sp>
      <p:sp>
        <p:nvSpPr>
          <p:cNvPr id="8" name="Text 5"/>
          <p:cNvSpPr txBox="1"/>
          <p:nvPr/>
        </p:nvSpPr>
        <p:spPr>
          <a:xfrm>
            <a:off x="548640" y="3291840"/>
            <a:ext cx="10515600" cy="457200"/>
          </a:xfrm>
          <a:prstGeom prst="rect">
            <a:avLst/>
          </a:prstGeom>
          <a:noFill/>
          <a:ln/>
        </p:spPr>
        <p:txBody>
          <a:bodyPr wrap="square" lIns="0" tIns="0" rIns="0" bIns="0" rtlCol="0" anchor="ctr"/>
          <a:lstStyle/>
          <a:p>
            <a:pPr indent="0" marL="0">
              <a:buNone/>
            </a:pPr>
            <a:r>
              <a:rPr lang="en-US" sz="1800" i="1" dirty="0">
                <a:solidFill>
                  <a:schemeClr val="accent2"/>
                </a:solidFill>
              </a:rPr>
              <a:t>What should banks share to catch launderers — and what does each shared piece cost in privacy?</a:t>
            </a:r>
            <a:endParaRPr lang="en-US" sz="1800" dirty="0"/>
          </a:p>
        </p:txBody>
      </p:sp>
      <p:sp>
        <p:nvSpPr>
          <p:cNvPr id="9" name="Team card"/>
          <p:cNvSpPr/>
          <p:nvPr/>
        </p:nvSpPr>
        <p:spPr>
          <a:xfrm>
            <a:off x="548640" y="4343400"/>
            <a:ext cx="6949440" cy="1508760"/>
          </a:xfrm>
          <a:prstGeom prst="roundRect">
            <a:avLst>
              <a:gd name="adj" fmla="val 7273"/>
            </a:avLst>
          </a:prstGeom>
          <a:solidFill>
            <a:srgbClr val="1D3A63"/>
          </a:solidFill>
          <a:ln w="12700">
            <a:solidFill>
              <a:srgbClr val="1D3A63"/>
            </a:solidFill>
            <a:prstDash val="solid"/>
          </a:ln>
        </p:spPr>
      </p:sp>
      <p:sp>
        <p:nvSpPr>
          <p:cNvPr id="10" name="Text 7"/>
          <p:cNvSpPr txBox="1"/>
          <p:nvPr/>
        </p:nvSpPr>
        <p:spPr>
          <a:xfrm>
            <a:off x="868680" y="4526280"/>
            <a:ext cx="6400800" cy="320040"/>
          </a:xfrm>
          <a:prstGeom prst="rect">
            <a:avLst/>
          </a:prstGeom>
          <a:noFill/>
          <a:ln/>
        </p:spPr>
        <p:txBody>
          <a:bodyPr wrap="square" lIns="0" tIns="0" rIns="0" bIns="0" rtlCol="0" anchor="ctr"/>
          <a:lstStyle/>
          <a:p>
            <a:pPr indent="0" marL="0">
              <a:buNone/>
            </a:pPr>
            <a:r>
              <a:rPr lang="en-US" sz="1400" b="1" dirty="0">
                <a:solidFill>
                  <a:schemeClr val="accent2"/>
                </a:solidFill>
              </a:rPr>
              <a:t>Team · Batch B58</a:t>
            </a:r>
            <a:endParaRPr lang="en-US" sz="1400" dirty="0"/>
          </a:p>
        </p:txBody>
      </p:sp>
      <p:sp>
        <p:nvSpPr>
          <p:cNvPr id="11" name="Text 8"/>
          <p:cNvSpPr txBox="1"/>
          <p:nvPr/>
        </p:nvSpPr>
        <p:spPr>
          <a:xfrm>
            <a:off x="868680" y="4937760"/>
            <a:ext cx="6400800" cy="960120"/>
          </a:xfrm>
          <a:prstGeom prst="rect">
            <a:avLst/>
          </a:prstGeom>
          <a:noFill/>
          <a:ln/>
        </p:spPr>
        <p:txBody>
          <a:bodyPr wrap="square" lIns="0" tIns="0" rIns="0" bIns="0" rtlCol="0" anchor="t"/>
          <a:lstStyle/>
          <a:p>
            <a:pPr indent="0" marL="0">
              <a:spcAft>
                <a:spcPts val="600"/>
              </a:spcAft>
              <a:buNone/>
            </a:pPr>
            <a:r>
              <a:rPr lang="en-US" sz="1800" b="1" dirty="0">
                <a:solidFill>
                  <a:schemeClr val="bg1"/>
                </a:solidFill>
              </a:rPr>
              <a:t>Allaudin Ansari</a:t>
            </a:r>
            <a:pPr indent="0" marL="0">
              <a:spcAft>
                <a:spcPts val="600"/>
              </a:spcAft>
              <a:buNone/>
            </a:pPr>
            <a:r>
              <a:rPr lang="en-US" sz="1800" dirty="0">
                <a:solidFill>
                  <a:schemeClr val="accent6"/>
                </a:solidFill>
              </a:rPr>
              <a:t>   RA2311003012266</a:t>
            </a:r>
            <a:endParaRPr lang="en-US" sz="1800" dirty="0"/>
          </a:p>
          <a:p>
            <a:pPr indent="0" marL="0">
              <a:spcAft>
                <a:spcPts val="600"/>
              </a:spcAft>
              <a:buNone/>
            </a:pPr>
            <a:r>
              <a:rPr lang="en-US" sz="1800" b="1" dirty="0">
                <a:solidFill>
                  <a:schemeClr val="bg1"/>
                </a:solidFill>
              </a:rPr>
              <a:t>Ravi Sah</a:t>
            </a:r>
            <a:pPr indent="0" marL="0">
              <a:spcAft>
                <a:spcPts val="600"/>
              </a:spcAft>
              <a:buNone/>
            </a:pPr>
            <a:r>
              <a:rPr lang="en-US" sz="1800" dirty="0">
                <a:solidFill>
                  <a:schemeClr val="accent6"/>
                </a:solidFill>
              </a:rPr>
              <a:t>   RA2311003012262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94392"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problem: each bank sees only a fragment</a:t>
            </a:r>
            <a:endParaRPr lang="en-US" sz="3200" dirty="0"/>
          </a:p>
        </p:txBody>
      </p:sp>
      <p:sp>
        <p:nvSpPr>
          <p:cNvPr id="3" name="Bank 0 card"/>
          <p:cNvSpPr/>
          <p:nvPr/>
        </p:nvSpPr>
        <p:spPr>
          <a:xfrm>
            <a:off x="548640" y="1325880"/>
            <a:ext cx="5029200"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4" name="Bank 0 circle"/>
          <p:cNvSpPr/>
          <p:nvPr/>
        </p:nvSpPr>
        <p:spPr>
          <a:xfrm>
            <a:off x="777240" y="1572768"/>
            <a:ext cx="658368" cy="658368"/>
          </a:xfrm>
          <a:prstGeom prst="ellipse">
            <a:avLst/>
          </a:prstGeom>
          <a:solidFill>
            <a:schemeClr val="accent4"/>
          </a:solidFill>
          <a:ln w="12700">
            <a:solidFill>
              <a:schemeClr val="accent4"/>
            </a:solidFill>
            <a:prstDash val="solid"/>
          </a:ln>
        </p:spPr>
      </p:sp>
      <p:pic>
        <p:nvPicPr>
          <p:cNvPr id="5" name="Bank 0 icon" descr="preencoded.png">    </p:cNvPr>
          <p:cNvPicPr>
            <a:picLocks noChangeAspect="1"/>
          </p:cNvPicPr>
          <p:nvPr/>
        </p:nvPicPr>
        <p:blipFill>
          <a:blip r:embed="rId1"/>
          <a:stretch>
            <a:fillRect/>
          </a:stretch>
        </p:blipFill>
        <p:spPr>
          <a:xfrm>
            <a:off x="935248" y="1730776"/>
            <a:ext cx="342351" cy="342351"/>
          </a:xfrm>
          <a:prstGeom prst="rect">
            <a:avLst/>
          </a:prstGeom>
        </p:spPr>
      </p:pic>
      <p:sp>
        <p:nvSpPr>
          <p:cNvPr id="6" name="Text 3"/>
          <p:cNvSpPr txBox="1"/>
          <p:nvPr/>
        </p:nvSpPr>
        <p:spPr>
          <a:xfrm>
            <a:off x="1645920" y="1472184"/>
            <a:ext cx="3657600" cy="320040"/>
          </a:xfrm>
          <a:prstGeom prst="rect">
            <a:avLst/>
          </a:prstGeom>
          <a:noFill/>
          <a:ln/>
        </p:spPr>
        <p:txBody>
          <a:bodyPr wrap="square" lIns="0" tIns="0" rIns="0" bIns="0" rtlCol="0" anchor="ctr"/>
          <a:lstStyle/>
          <a:p>
            <a:pPr indent="0" marL="0">
              <a:buNone/>
            </a:pPr>
            <a:r>
              <a:rPr lang="en-US" sz="1600" b="1" dirty="0">
                <a:solidFill>
                  <a:schemeClr val="tx2"/>
                </a:solidFill>
              </a:rPr>
              <a:t>Bank A</a:t>
            </a:r>
            <a:endParaRPr lang="en-US" sz="1600" dirty="0"/>
          </a:p>
        </p:txBody>
      </p:sp>
      <p:sp>
        <p:nvSpPr>
          <p:cNvPr id="7" name="Text 4"/>
          <p:cNvSpPr txBox="1"/>
          <p:nvPr/>
        </p:nvSpPr>
        <p:spPr>
          <a:xfrm>
            <a:off x="1645920" y="1783080"/>
            <a:ext cx="3840480" cy="274320"/>
          </a:xfrm>
          <a:prstGeom prst="rect">
            <a:avLst/>
          </a:prstGeom>
          <a:noFill/>
          <a:ln/>
        </p:spPr>
        <p:txBody>
          <a:bodyPr wrap="square" lIns="0" tIns="0" rIns="0" bIns="0" rtlCol="0" anchor="ctr"/>
          <a:lstStyle/>
          <a:p>
            <a:pPr indent="0" marL="0">
              <a:buNone/>
            </a:pPr>
            <a:r>
              <a:rPr lang="en-US" sz="1400" dirty="0">
                <a:solidFill>
                  <a:schemeClr val="tx1"/>
                </a:solidFill>
              </a:rPr>
              <a:t>Many small deposits arrive</a:t>
            </a:r>
            <a:endParaRPr lang="en-US" sz="1400" dirty="0"/>
          </a:p>
        </p:txBody>
      </p:sp>
      <p:sp>
        <p:nvSpPr>
          <p:cNvPr id="8" name="Text 5"/>
          <p:cNvSpPr txBox="1"/>
          <p:nvPr/>
        </p:nvSpPr>
        <p:spPr>
          <a:xfrm>
            <a:off x="1645920" y="2075688"/>
            <a:ext cx="3840480" cy="274320"/>
          </a:xfrm>
          <a:prstGeom prst="rect">
            <a:avLst/>
          </a:prstGeom>
          <a:noFill/>
          <a:ln/>
        </p:spPr>
        <p:txBody>
          <a:bodyPr wrap="square" lIns="0" tIns="0" rIns="0" bIns="0" rtlCol="0" anchor="ctr"/>
          <a:lstStyle/>
          <a:p>
            <a:pPr indent="0" marL="0">
              <a:buNone/>
            </a:pPr>
            <a:r>
              <a:rPr lang="en-US" sz="1200" i="1" dirty="0">
                <a:solidFill>
                  <a:schemeClr val="accent5"/>
                </a:solidFill>
              </a:rPr>
              <a:t>Looks like normal savings</a:t>
            </a:r>
            <a:endParaRPr lang="en-US" sz="1200" dirty="0"/>
          </a:p>
        </p:txBody>
      </p:sp>
      <p:sp>
        <p:nvSpPr>
          <p:cNvPr id="9" name="Flow arrow 0"/>
          <p:cNvSpPr/>
          <p:nvPr/>
        </p:nvSpPr>
        <p:spPr>
          <a:xfrm>
            <a:off x="978408" y="2514600"/>
            <a:ext cx="256032" cy="256032"/>
          </a:xfrm>
          <a:prstGeom prst="downArrow">
            <a:avLst/>
          </a:prstGeom>
          <a:solidFill>
            <a:schemeClr val="accent3"/>
          </a:solidFill>
          <a:ln w="12700">
            <a:solidFill>
              <a:schemeClr val="accent3"/>
            </a:solidFill>
            <a:prstDash val="solid"/>
          </a:ln>
        </p:spPr>
      </p:sp>
      <p:sp>
        <p:nvSpPr>
          <p:cNvPr id="10" name="Bank 1 card"/>
          <p:cNvSpPr/>
          <p:nvPr/>
        </p:nvSpPr>
        <p:spPr>
          <a:xfrm>
            <a:off x="548640" y="2788920"/>
            <a:ext cx="5029200"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11" name="Bank 1 circle"/>
          <p:cNvSpPr/>
          <p:nvPr/>
        </p:nvSpPr>
        <p:spPr>
          <a:xfrm>
            <a:off x="777240" y="3035808"/>
            <a:ext cx="658368" cy="658368"/>
          </a:xfrm>
          <a:prstGeom prst="ellipse">
            <a:avLst/>
          </a:prstGeom>
          <a:solidFill>
            <a:schemeClr val="accent4"/>
          </a:solidFill>
          <a:ln w="12700">
            <a:solidFill>
              <a:schemeClr val="accent4"/>
            </a:solidFill>
            <a:prstDash val="solid"/>
          </a:ln>
        </p:spPr>
      </p:sp>
      <p:pic>
        <p:nvPicPr>
          <p:cNvPr id="12" name="Bank 1 icon" descr="preencoded.png">    </p:cNvPr>
          <p:cNvPicPr>
            <a:picLocks noChangeAspect="1"/>
          </p:cNvPicPr>
          <p:nvPr/>
        </p:nvPicPr>
        <p:blipFill>
          <a:blip r:embed="rId2"/>
          <a:stretch>
            <a:fillRect/>
          </a:stretch>
        </p:blipFill>
        <p:spPr>
          <a:xfrm>
            <a:off x="935248" y="3193816"/>
            <a:ext cx="342351" cy="342351"/>
          </a:xfrm>
          <a:prstGeom prst="rect">
            <a:avLst/>
          </a:prstGeom>
        </p:spPr>
      </p:pic>
      <p:sp>
        <p:nvSpPr>
          <p:cNvPr id="13" name="Text 9"/>
          <p:cNvSpPr txBox="1"/>
          <p:nvPr/>
        </p:nvSpPr>
        <p:spPr>
          <a:xfrm>
            <a:off x="1645920" y="2935224"/>
            <a:ext cx="3657600" cy="320040"/>
          </a:xfrm>
          <a:prstGeom prst="rect">
            <a:avLst/>
          </a:prstGeom>
          <a:noFill/>
          <a:ln/>
        </p:spPr>
        <p:txBody>
          <a:bodyPr wrap="square" lIns="0" tIns="0" rIns="0" bIns="0" rtlCol="0" anchor="ctr"/>
          <a:lstStyle/>
          <a:p>
            <a:pPr indent="0" marL="0">
              <a:buNone/>
            </a:pPr>
            <a:r>
              <a:rPr lang="en-US" sz="1600" b="1" dirty="0">
                <a:solidFill>
                  <a:schemeClr val="tx2"/>
                </a:solidFill>
              </a:rPr>
              <a:t>Bank B</a:t>
            </a:r>
            <a:endParaRPr lang="en-US" sz="1600" dirty="0"/>
          </a:p>
        </p:txBody>
      </p:sp>
      <p:sp>
        <p:nvSpPr>
          <p:cNvPr id="14" name="Text 10"/>
          <p:cNvSpPr txBox="1"/>
          <p:nvPr/>
        </p:nvSpPr>
        <p:spPr>
          <a:xfrm>
            <a:off x="1645920" y="3246120"/>
            <a:ext cx="3840480" cy="274320"/>
          </a:xfrm>
          <a:prstGeom prst="rect">
            <a:avLst/>
          </a:prstGeom>
          <a:noFill/>
          <a:ln/>
        </p:spPr>
        <p:txBody>
          <a:bodyPr wrap="square" lIns="0" tIns="0" rIns="0" bIns="0" rtlCol="0" anchor="ctr"/>
          <a:lstStyle/>
          <a:p>
            <a:pPr indent="0" marL="0">
              <a:buNone/>
            </a:pPr>
            <a:r>
              <a:rPr lang="en-US" sz="1400" dirty="0">
                <a:solidFill>
                  <a:schemeClr val="tx1"/>
                </a:solidFill>
              </a:rPr>
              <a:t>Money passes straight through</a:t>
            </a:r>
            <a:endParaRPr lang="en-US" sz="1400" dirty="0"/>
          </a:p>
        </p:txBody>
      </p:sp>
      <p:sp>
        <p:nvSpPr>
          <p:cNvPr id="15" name="Text 11"/>
          <p:cNvSpPr txBox="1"/>
          <p:nvPr/>
        </p:nvSpPr>
        <p:spPr>
          <a:xfrm>
            <a:off x="1645920" y="3538728"/>
            <a:ext cx="3840480" cy="274320"/>
          </a:xfrm>
          <a:prstGeom prst="rect">
            <a:avLst/>
          </a:prstGeom>
          <a:noFill/>
          <a:ln/>
        </p:spPr>
        <p:txBody>
          <a:bodyPr wrap="square" lIns="0" tIns="0" rIns="0" bIns="0" rtlCol="0" anchor="ctr"/>
          <a:lstStyle/>
          <a:p>
            <a:pPr indent="0" marL="0">
              <a:buNone/>
            </a:pPr>
            <a:r>
              <a:rPr lang="en-US" sz="1200" i="1" dirty="0">
                <a:solidFill>
                  <a:schemeClr val="accent5"/>
                </a:solidFill>
              </a:rPr>
              <a:t>Looks like a busy business</a:t>
            </a:r>
            <a:endParaRPr lang="en-US" sz="1200" dirty="0"/>
          </a:p>
        </p:txBody>
      </p:sp>
      <p:sp>
        <p:nvSpPr>
          <p:cNvPr id="16" name="Flow arrow 1"/>
          <p:cNvSpPr/>
          <p:nvPr/>
        </p:nvSpPr>
        <p:spPr>
          <a:xfrm>
            <a:off x="978408" y="3977640"/>
            <a:ext cx="256032" cy="256032"/>
          </a:xfrm>
          <a:prstGeom prst="downArrow">
            <a:avLst/>
          </a:prstGeom>
          <a:solidFill>
            <a:schemeClr val="accent3"/>
          </a:solidFill>
          <a:ln w="12700">
            <a:solidFill>
              <a:schemeClr val="accent3"/>
            </a:solidFill>
            <a:prstDash val="solid"/>
          </a:ln>
        </p:spPr>
      </p:sp>
      <p:sp>
        <p:nvSpPr>
          <p:cNvPr id="17" name="Bank 2 card"/>
          <p:cNvSpPr/>
          <p:nvPr/>
        </p:nvSpPr>
        <p:spPr>
          <a:xfrm>
            <a:off x="548640" y="4251960"/>
            <a:ext cx="5029200"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18" name="Bank 2 circle"/>
          <p:cNvSpPr/>
          <p:nvPr/>
        </p:nvSpPr>
        <p:spPr>
          <a:xfrm>
            <a:off x="777240" y="4498848"/>
            <a:ext cx="658368" cy="658368"/>
          </a:xfrm>
          <a:prstGeom prst="ellipse">
            <a:avLst/>
          </a:prstGeom>
          <a:solidFill>
            <a:schemeClr val="accent4"/>
          </a:solidFill>
          <a:ln w="12700">
            <a:solidFill>
              <a:schemeClr val="accent4"/>
            </a:solidFill>
            <a:prstDash val="solid"/>
          </a:ln>
        </p:spPr>
      </p:sp>
      <p:pic>
        <p:nvPicPr>
          <p:cNvPr id="19" name="Bank 2 icon" descr="preencoded.png">    </p:cNvPr>
          <p:cNvPicPr>
            <a:picLocks noChangeAspect="1"/>
          </p:cNvPicPr>
          <p:nvPr/>
        </p:nvPicPr>
        <p:blipFill>
          <a:blip r:embed="rId3"/>
          <a:stretch>
            <a:fillRect/>
          </a:stretch>
        </p:blipFill>
        <p:spPr>
          <a:xfrm>
            <a:off x="935248" y="4656856"/>
            <a:ext cx="342351" cy="342351"/>
          </a:xfrm>
          <a:prstGeom prst="rect">
            <a:avLst/>
          </a:prstGeom>
        </p:spPr>
      </p:pic>
      <p:sp>
        <p:nvSpPr>
          <p:cNvPr id="20" name="Text 15"/>
          <p:cNvSpPr txBox="1"/>
          <p:nvPr/>
        </p:nvSpPr>
        <p:spPr>
          <a:xfrm>
            <a:off x="1645920" y="4398264"/>
            <a:ext cx="3657600" cy="320040"/>
          </a:xfrm>
          <a:prstGeom prst="rect">
            <a:avLst/>
          </a:prstGeom>
          <a:noFill/>
          <a:ln/>
        </p:spPr>
        <p:txBody>
          <a:bodyPr wrap="square" lIns="0" tIns="0" rIns="0" bIns="0" rtlCol="0" anchor="ctr"/>
          <a:lstStyle/>
          <a:p>
            <a:pPr indent="0" marL="0">
              <a:buNone/>
            </a:pPr>
            <a:r>
              <a:rPr lang="en-US" sz="1600" b="1" dirty="0">
                <a:solidFill>
                  <a:schemeClr val="tx2"/>
                </a:solidFill>
              </a:rPr>
              <a:t>Bank C</a:t>
            </a:r>
            <a:endParaRPr lang="en-US" sz="1600" dirty="0"/>
          </a:p>
        </p:txBody>
      </p:sp>
      <p:sp>
        <p:nvSpPr>
          <p:cNvPr id="21" name="Text 16"/>
          <p:cNvSpPr txBox="1"/>
          <p:nvPr/>
        </p:nvSpPr>
        <p:spPr>
          <a:xfrm>
            <a:off x="1645920" y="4709160"/>
            <a:ext cx="3840480" cy="274320"/>
          </a:xfrm>
          <a:prstGeom prst="rect">
            <a:avLst/>
          </a:prstGeom>
          <a:noFill/>
          <a:ln/>
        </p:spPr>
        <p:txBody>
          <a:bodyPr wrap="square" lIns="0" tIns="0" rIns="0" bIns="0" rtlCol="0" anchor="ctr"/>
          <a:lstStyle/>
          <a:p>
            <a:pPr indent="0" marL="0">
              <a:buNone/>
            </a:pPr>
            <a:r>
              <a:rPr lang="en-US" sz="1400" dirty="0">
                <a:solidFill>
                  <a:schemeClr val="tx1"/>
                </a:solidFill>
              </a:rPr>
              <a:t>Funds leave to new accounts</a:t>
            </a:r>
            <a:endParaRPr lang="en-US" sz="1400" dirty="0"/>
          </a:p>
        </p:txBody>
      </p:sp>
      <p:sp>
        <p:nvSpPr>
          <p:cNvPr id="22" name="Text 17"/>
          <p:cNvSpPr txBox="1"/>
          <p:nvPr/>
        </p:nvSpPr>
        <p:spPr>
          <a:xfrm>
            <a:off x="1645920" y="5001768"/>
            <a:ext cx="3840480" cy="274320"/>
          </a:xfrm>
          <a:prstGeom prst="rect">
            <a:avLst/>
          </a:prstGeom>
          <a:noFill/>
          <a:ln/>
        </p:spPr>
        <p:txBody>
          <a:bodyPr wrap="square" lIns="0" tIns="0" rIns="0" bIns="0" rtlCol="0" anchor="ctr"/>
          <a:lstStyle/>
          <a:p>
            <a:pPr indent="0" marL="0">
              <a:buNone/>
            </a:pPr>
            <a:r>
              <a:rPr lang="en-US" sz="1200" i="1" dirty="0">
                <a:solidFill>
                  <a:schemeClr val="accent5"/>
                </a:solidFill>
              </a:rPr>
              <a:t>Looks like routine payments</a:t>
            </a:r>
            <a:endParaRPr lang="en-US" sz="1200" dirty="0"/>
          </a:p>
        </p:txBody>
      </p:sp>
      <p:sp>
        <p:nvSpPr>
          <p:cNvPr id="23" name="Text 18"/>
          <p:cNvSpPr txBox="1"/>
          <p:nvPr/>
        </p:nvSpPr>
        <p:spPr>
          <a:xfrm>
            <a:off x="548640" y="5760720"/>
            <a:ext cx="5029200" cy="411480"/>
          </a:xfrm>
          <a:prstGeom prst="rect">
            <a:avLst/>
          </a:prstGeom>
          <a:noFill/>
          <a:ln/>
        </p:spPr>
        <p:txBody>
          <a:bodyPr wrap="square" lIns="0" tIns="0" rIns="0" bIns="0" rtlCol="0" anchor="ctr"/>
          <a:lstStyle/>
          <a:p>
            <a:pPr indent="0" marL="0">
              <a:buNone/>
            </a:pPr>
            <a:r>
              <a:rPr lang="en-US" sz="1300" b="1" dirty="0">
                <a:solidFill>
                  <a:schemeClr val="accent3"/>
                </a:solidFill>
              </a:rPr>
              <a:t>Together: one laundering scheme that no single bank can see.</a:t>
            </a:r>
            <a:endParaRPr lang="en-US" sz="1300" dirty="0"/>
          </a:p>
        </p:txBody>
      </p:sp>
      <p:sp>
        <p:nvSpPr>
          <p:cNvPr id="24" name="Text 19"/>
          <p:cNvSpPr txBox="1"/>
          <p:nvPr/>
        </p:nvSpPr>
        <p:spPr>
          <a:xfrm>
            <a:off x="6172200" y="1325880"/>
            <a:ext cx="5468112" cy="365760"/>
          </a:xfrm>
          <a:prstGeom prst="rect">
            <a:avLst/>
          </a:prstGeom>
          <a:noFill/>
          <a:ln/>
        </p:spPr>
        <p:txBody>
          <a:bodyPr wrap="square" lIns="0" tIns="0" rIns="0" bIns="0" rtlCol="0" anchor="ctr"/>
          <a:lstStyle/>
          <a:p>
            <a:pPr indent="0" marL="0">
              <a:buNone/>
            </a:pPr>
            <a:r>
              <a:rPr lang="en-US" sz="2000" b="1" dirty="0">
                <a:solidFill>
                  <a:schemeClr val="tx2"/>
                </a:solidFill>
              </a:rPr>
              <a:t>Why it matters</a:t>
            </a:r>
            <a:endParaRPr lang="en-US" sz="2000" dirty="0"/>
          </a:p>
        </p:txBody>
      </p:sp>
      <p:sp>
        <p:nvSpPr>
          <p:cNvPr id="25" name="Text 20"/>
          <p:cNvSpPr txBox="1"/>
          <p:nvPr/>
        </p:nvSpPr>
        <p:spPr>
          <a:xfrm>
            <a:off x="6172200" y="1737360"/>
            <a:ext cx="5468112"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Launderers deliberately split money across banks so each bank's view looks harmless.</a:t>
            </a:r>
            <a:endParaRPr lang="en-US" sz="1400" dirty="0"/>
          </a:p>
          <a:p>
            <a:pPr marL="342900" indent="-342900">
              <a:spcAft>
                <a:spcPts val="800"/>
              </a:spcAft>
              <a:buSzPct val="100000"/>
              <a:buChar char="•"/>
            </a:pPr>
            <a:r>
              <a:rPr lang="en-US" sz="1400" dirty="0">
                <a:solidFill>
                  <a:schemeClr val="tx1"/>
                </a:solidFill>
              </a:rPr>
              <a:t>Pooling all customer data would expose the scheme, but privacy law and confidentiality forbid it.</a:t>
            </a:r>
            <a:endParaRPr lang="en-US" sz="1400" dirty="0"/>
          </a:p>
          <a:p>
            <a:pPr marL="342900" indent="-342900">
              <a:spcAft>
                <a:spcPts val="800"/>
              </a:spcAft>
              <a:buSzPct val="100000"/>
              <a:buChar char="•"/>
            </a:pPr>
            <a:r>
              <a:rPr lang="en-US" sz="1400" dirty="0">
                <a:solidFill>
                  <a:schemeClr val="tx1"/>
                </a:solidFill>
              </a:rPr>
              <a:t>Regulators now encourage banks to share information (US FinCEN Section 314(b); EU AML Regulation from July 2027) — yet nobody knows what is safe to share.</a:t>
            </a:r>
            <a:endParaRPr lang="en-US" sz="1400" dirty="0"/>
          </a:p>
        </p:txBody>
      </p:sp>
      <p:sp>
        <p:nvSpPr>
          <p:cNvPr id="26" name="Text 21"/>
          <p:cNvSpPr txBox="1"/>
          <p:nvPr/>
        </p:nvSpPr>
        <p:spPr>
          <a:xfrm>
            <a:off x="6172200" y="3703320"/>
            <a:ext cx="292608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$0.8–2.0 trillion</a:t>
            </a:r>
            <a:endParaRPr lang="en-US" sz="3000" dirty="0"/>
          </a:p>
        </p:txBody>
      </p:sp>
      <p:sp>
        <p:nvSpPr>
          <p:cNvPr id="27" name="Text 22"/>
          <p:cNvSpPr txBox="1"/>
          <p:nvPr/>
        </p:nvSpPr>
        <p:spPr>
          <a:xfrm>
            <a:off x="9144000" y="3730752"/>
            <a:ext cx="2496312" cy="548640"/>
          </a:xfrm>
          <a:prstGeom prst="rect">
            <a:avLst/>
          </a:prstGeom>
          <a:noFill/>
          <a:ln/>
        </p:spPr>
        <p:txBody>
          <a:bodyPr wrap="square" lIns="0" tIns="0" rIns="0" bIns="0" rtlCol="0" anchor="ctr"/>
          <a:lstStyle/>
          <a:p>
            <a:pPr indent="0" marL="0">
              <a:buNone/>
            </a:pPr>
            <a:r>
              <a:rPr lang="en-US" sz="1200" dirty="0">
                <a:solidFill>
                  <a:schemeClr val="accent5"/>
                </a:solidFill>
              </a:rPr>
              <a:t>laundered every year — 2–5% of global GDP (UN estimate)</a:t>
            </a:r>
            <a:endParaRPr lang="en-US" sz="1200" dirty="0"/>
          </a:p>
        </p:txBody>
      </p:sp>
      <p:sp>
        <p:nvSpPr>
          <p:cNvPr id="28" name="Problem statement card"/>
          <p:cNvSpPr/>
          <p:nvPr/>
        </p:nvSpPr>
        <p:spPr>
          <a:xfrm>
            <a:off x="6172200" y="4480560"/>
            <a:ext cx="5468112" cy="1600200"/>
          </a:xfrm>
          <a:prstGeom prst="roundRect">
            <a:avLst>
              <a:gd name="adj" fmla="val 6857"/>
            </a:avLst>
          </a:prstGeom>
          <a:solidFill>
            <a:schemeClr val="tx2"/>
          </a:solidFill>
          <a:ln w="12700">
            <a:solidFill>
              <a:schemeClr val="tx2"/>
            </a:solidFill>
            <a:prstDash val="solid"/>
          </a:ln>
          <a:effectLst>
            <a:outerShdw sx="100000" sy="100000" kx="0" ky="0" algn="bl" rotWithShape="0" blurRad="76200" dist="25400" dir="5400000">
              <a:srgbClr val="9AA5B1">
                <a:alpha val="35000"/>
              </a:srgbClr>
            </a:outerShdw>
          </a:effectLst>
        </p:spPr>
      </p:sp>
      <p:sp>
        <p:nvSpPr>
          <p:cNvPr id="29" name="Text 24"/>
          <p:cNvSpPr txBox="1"/>
          <p:nvPr/>
        </p:nvSpPr>
        <p:spPr>
          <a:xfrm>
            <a:off x="6446520" y="4590288"/>
            <a:ext cx="4919472"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PROBLEM STATEMENT</a:t>
            </a:r>
            <a:endParaRPr lang="en-US" sz="1200" dirty="0"/>
          </a:p>
        </p:txBody>
      </p:sp>
      <p:sp>
        <p:nvSpPr>
          <p:cNvPr id="30" name="Text 25"/>
          <p:cNvSpPr txBox="1"/>
          <p:nvPr/>
        </p:nvSpPr>
        <p:spPr>
          <a:xfrm>
            <a:off x="6446520" y="4892040"/>
            <a:ext cx="4919472" cy="1097280"/>
          </a:xfrm>
          <a:prstGeom prst="rect">
            <a:avLst/>
          </a:prstGeom>
          <a:noFill/>
          <a:ln/>
        </p:spPr>
        <p:txBody>
          <a:bodyPr wrap="square" lIns="0" tIns="0" rIns="0" bIns="0" rtlCol="0" anchor="t"/>
          <a:lstStyle/>
          <a:p>
            <a:pPr indent="0" marL="0">
              <a:buNone/>
            </a:pPr>
            <a:r>
              <a:rPr lang="en-US" sz="1500" dirty="0">
                <a:solidFill>
                  <a:schemeClr val="bg1"/>
                </a:solidFill>
              </a:rPr>
              <a:t>How can banks detect laundering that spans several institutions while sharing as little as possible — and how much does each piece of shared information reveal to another bank?</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94392"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Literature survey: what exists and what is missing</a:t>
            </a:r>
            <a:endParaRPr lang="en-US" sz="3200" dirty="0"/>
          </a:p>
        </p:txBody>
      </p:sp>
      <p:sp>
        <p:nvSpPr>
          <p:cNvPr id="3" name="Text 1"/>
          <p:cNvSpPr txBox="1"/>
          <p:nvPr/>
        </p:nvSpPr>
        <p:spPr>
          <a:xfrm>
            <a:off x="548640" y="1024128"/>
            <a:ext cx="9144000" cy="274320"/>
          </a:xfrm>
          <a:prstGeom prst="rect">
            <a:avLst/>
          </a:prstGeom>
          <a:noFill/>
          <a:ln/>
        </p:spPr>
        <p:txBody>
          <a:bodyPr wrap="square" lIns="0" tIns="0" rIns="0" bIns="0" rtlCol="0" anchor="ctr"/>
          <a:lstStyle/>
          <a:p>
            <a:pPr indent="0" marL="0">
              <a:buNone/>
            </a:pPr>
            <a:r>
              <a:rPr lang="en-US" sz="1300" i="1" dirty="0">
                <a:solidFill>
                  <a:schemeClr val="accent5"/>
                </a:solidFill>
              </a:rPr>
              <a:t>20 research papers reviewed (full survey in the attached document)</a:t>
            </a:r>
            <a:endParaRPr lang="en-US" sz="1300" dirty="0"/>
          </a:p>
        </p:txBody>
      </p:sp>
      <p:sp>
        <p:nvSpPr>
          <p:cNvPr id="4" name="Lit card 0"/>
          <p:cNvSpPr/>
          <p:nvPr/>
        </p:nvSpPr>
        <p:spPr>
          <a:xfrm>
            <a:off x="548640" y="1463040"/>
            <a:ext cx="2567178" cy="3291840"/>
          </a:xfrm>
          <a:prstGeom prst="roundRect">
            <a:avLst>
              <a:gd name="adj" fmla="val 4274"/>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5" name="Lit 0 circle"/>
          <p:cNvSpPr/>
          <p:nvPr/>
        </p:nvSpPr>
        <p:spPr>
          <a:xfrm>
            <a:off x="777240" y="1691640"/>
            <a:ext cx="640080" cy="640080"/>
          </a:xfrm>
          <a:prstGeom prst="ellipse">
            <a:avLst/>
          </a:prstGeom>
          <a:solidFill>
            <a:schemeClr val="accent1"/>
          </a:solidFill>
          <a:ln w="12700">
            <a:solidFill>
              <a:schemeClr val="accent1"/>
            </a:solidFill>
            <a:prstDash val="solid"/>
          </a:ln>
        </p:spPr>
      </p:sp>
      <p:pic>
        <p:nvPicPr>
          <p:cNvPr id="6" name="Lit 0 icon" descr="preencoded.png">    </p:cNvPr>
          <p:cNvPicPr>
            <a:picLocks noChangeAspect="1"/>
          </p:cNvPicPr>
          <p:nvPr/>
        </p:nvPicPr>
        <p:blipFill>
          <a:blip r:embed="rId1"/>
          <a:stretch>
            <a:fillRect/>
          </a:stretch>
        </p:blipFill>
        <p:spPr>
          <a:xfrm>
            <a:off x="930859" y="1845259"/>
            <a:ext cx="332842" cy="332842"/>
          </a:xfrm>
          <a:prstGeom prst="rect">
            <a:avLst/>
          </a:prstGeom>
        </p:spPr>
      </p:pic>
      <p:sp>
        <p:nvSpPr>
          <p:cNvPr id="7" name="Text 4"/>
          <p:cNvSpPr txBox="1"/>
          <p:nvPr/>
        </p:nvSpPr>
        <p:spPr>
          <a:xfrm>
            <a:off x="777240" y="2423160"/>
            <a:ext cx="2109978" cy="365760"/>
          </a:xfrm>
          <a:prstGeom prst="rect">
            <a:avLst/>
          </a:prstGeom>
          <a:noFill/>
          <a:ln/>
        </p:spPr>
        <p:txBody>
          <a:bodyPr wrap="square" lIns="0" tIns="0" rIns="0" bIns="0" rtlCol="0" anchor="ctr"/>
          <a:lstStyle/>
          <a:p>
            <a:pPr indent="0" marL="0">
              <a:buNone/>
            </a:pPr>
            <a:r>
              <a:rPr lang="en-US" sz="1600" b="1" dirty="0">
                <a:solidFill>
                  <a:schemeClr val="tx2"/>
                </a:solidFill>
              </a:rPr>
              <a:t>AML detection models</a:t>
            </a:r>
            <a:endParaRPr lang="en-US" sz="1600" dirty="0"/>
          </a:p>
        </p:txBody>
      </p:sp>
      <p:sp>
        <p:nvSpPr>
          <p:cNvPr id="8" name="Text 5"/>
          <p:cNvSpPr txBox="1"/>
          <p:nvPr/>
        </p:nvSpPr>
        <p:spPr>
          <a:xfrm>
            <a:off x="777240" y="2834640"/>
            <a:ext cx="2109978" cy="1188720"/>
          </a:xfrm>
          <a:prstGeom prst="rect">
            <a:avLst/>
          </a:prstGeom>
          <a:noFill/>
          <a:ln/>
        </p:spPr>
        <p:txBody>
          <a:bodyPr wrap="square" lIns="0" tIns="0" rIns="0" bIns="0" rtlCol="0" anchor="t"/>
          <a:lstStyle/>
          <a:p>
            <a:pPr indent="0" marL="0">
              <a:buNone/>
            </a:pPr>
            <a:r>
              <a:rPr lang="en-US" sz="1300" dirty="0">
                <a:solidFill>
                  <a:schemeClr val="tx1"/>
                </a:solidFill>
              </a:rPr>
              <a:t>Graph neural networks and graph features find laundering patterns well (Altman 2023; Egressy 2024; Blanuša 2024).</a:t>
            </a:r>
            <a:endParaRPr lang="en-US" sz="1300" dirty="0"/>
          </a:p>
        </p:txBody>
      </p:sp>
      <p:sp>
        <p:nvSpPr>
          <p:cNvPr id="9" name="Text 6"/>
          <p:cNvSpPr txBox="1"/>
          <p:nvPr/>
        </p:nvSpPr>
        <p:spPr>
          <a:xfrm>
            <a:off x="777240" y="3840480"/>
            <a:ext cx="2109978" cy="868680"/>
          </a:xfrm>
          <a:prstGeom prst="rect">
            <a:avLst/>
          </a:prstGeom>
          <a:noFill/>
          <a:ln/>
        </p:spPr>
        <p:txBody>
          <a:bodyPr wrap="square" lIns="0" tIns="0" rIns="0" bIns="0" rtlCol="0" anchor="t"/>
          <a:lstStyle/>
          <a:p>
            <a:pPr indent="0" marL="0">
              <a:buNone/>
            </a:pPr>
            <a:r>
              <a:rPr lang="en-US" sz="1300" b="1" dirty="0">
                <a:solidFill>
                  <a:schemeClr val="accent3"/>
                </a:solidFill>
              </a:rPr>
              <a:t>Gap: </a:t>
            </a:r>
            <a:pPr indent="0" marL="0">
              <a:buNone/>
            </a:pPr>
            <a:r>
              <a:rPr lang="en-US" sz="1300" dirty="0">
                <a:solidFill>
                  <a:schemeClr val="accent3"/>
                </a:solidFill>
              </a:rPr>
              <a:t>Assume one bank sees every transaction.</a:t>
            </a:r>
            <a:endParaRPr lang="en-US" sz="1300" dirty="0"/>
          </a:p>
        </p:txBody>
      </p:sp>
      <p:sp>
        <p:nvSpPr>
          <p:cNvPr id="10" name="Lit card 1"/>
          <p:cNvSpPr/>
          <p:nvPr/>
        </p:nvSpPr>
        <p:spPr>
          <a:xfrm>
            <a:off x="3390138" y="1463040"/>
            <a:ext cx="2567178" cy="3291840"/>
          </a:xfrm>
          <a:prstGeom prst="roundRect">
            <a:avLst>
              <a:gd name="adj" fmla="val 4274"/>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11" name="Lit 1 circle"/>
          <p:cNvSpPr/>
          <p:nvPr/>
        </p:nvSpPr>
        <p:spPr>
          <a:xfrm>
            <a:off x="3618738" y="1691640"/>
            <a:ext cx="640080" cy="640080"/>
          </a:xfrm>
          <a:prstGeom prst="ellipse">
            <a:avLst/>
          </a:prstGeom>
          <a:solidFill>
            <a:schemeClr val="accent1"/>
          </a:solidFill>
          <a:ln w="12700">
            <a:solidFill>
              <a:schemeClr val="accent1"/>
            </a:solidFill>
            <a:prstDash val="solid"/>
          </a:ln>
        </p:spPr>
      </p:sp>
      <p:pic>
        <p:nvPicPr>
          <p:cNvPr id="12" name="Lit 1 icon" descr="preencoded.png">    </p:cNvPr>
          <p:cNvPicPr>
            <a:picLocks noChangeAspect="1"/>
          </p:cNvPicPr>
          <p:nvPr/>
        </p:nvPicPr>
        <p:blipFill>
          <a:blip r:embed="rId2"/>
          <a:stretch>
            <a:fillRect/>
          </a:stretch>
        </p:blipFill>
        <p:spPr>
          <a:xfrm>
            <a:off x="3772357" y="1845259"/>
            <a:ext cx="332842" cy="332842"/>
          </a:xfrm>
          <a:prstGeom prst="rect">
            <a:avLst/>
          </a:prstGeom>
        </p:spPr>
      </p:pic>
      <p:sp>
        <p:nvSpPr>
          <p:cNvPr id="13" name="Text 9"/>
          <p:cNvSpPr txBox="1"/>
          <p:nvPr/>
        </p:nvSpPr>
        <p:spPr>
          <a:xfrm>
            <a:off x="3618738" y="2423160"/>
            <a:ext cx="2109978" cy="365760"/>
          </a:xfrm>
          <a:prstGeom prst="rect">
            <a:avLst/>
          </a:prstGeom>
          <a:noFill/>
          <a:ln/>
        </p:spPr>
        <p:txBody>
          <a:bodyPr wrap="square" lIns="0" tIns="0" rIns="0" bIns="0" rtlCol="0" anchor="ctr"/>
          <a:lstStyle/>
          <a:p>
            <a:pPr indent="0" marL="0">
              <a:buNone/>
            </a:pPr>
            <a:r>
              <a:rPr lang="en-US" sz="1600" b="1" dirty="0">
                <a:solidFill>
                  <a:schemeClr val="tx2"/>
                </a:solidFill>
              </a:rPr>
              <a:t>Bank collaboration</a:t>
            </a:r>
            <a:endParaRPr lang="en-US" sz="1600" dirty="0"/>
          </a:p>
        </p:txBody>
      </p:sp>
      <p:sp>
        <p:nvSpPr>
          <p:cNvPr id="14" name="Text 10"/>
          <p:cNvSpPr txBox="1"/>
          <p:nvPr/>
        </p:nvSpPr>
        <p:spPr>
          <a:xfrm>
            <a:off x="3618738" y="2834640"/>
            <a:ext cx="2109978" cy="1188720"/>
          </a:xfrm>
          <a:prstGeom prst="rect">
            <a:avLst/>
          </a:prstGeom>
          <a:noFill/>
          <a:ln/>
        </p:spPr>
        <p:txBody>
          <a:bodyPr wrap="square" lIns="0" tIns="0" rIns="0" bIns="0" rtlCol="0" anchor="t"/>
          <a:lstStyle/>
          <a:p>
            <a:pPr indent="0" marL="0">
              <a:buNone/>
            </a:pPr>
            <a:r>
              <a:rPr lang="en-US" sz="1300" dirty="0">
                <a:solidFill>
                  <a:schemeClr val="tx1"/>
                </a:solidFill>
              </a:rPr>
              <a:t>Federated and collaborative detection beats single banks (Suzumura 2019; Zheng 2020; Tian 2025).</a:t>
            </a:r>
            <a:endParaRPr lang="en-US" sz="1300" dirty="0"/>
          </a:p>
        </p:txBody>
      </p:sp>
      <p:sp>
        <p:nvSpPr>
          <p:cNvPr id="15" name="Text 11"/>
          <p:cNvSpPr txBox="1"/>
          <p:nvPr/>
        </p:nvSpPr>
        <p:spPr>
          <a:xfrm>
            <a:off x="3618738" y="3840480"/>
            <a:ext cx="2109978" cy="868680"/>
          </a:xfrm>
          <a:prstGeom prst="rect">
            <a:avLst/>
          </a:prstGeom>
          <a:noFill/>
          <a:ln/>
        </p:spPr>
        <p:txBody>
          <a:bodyPr wrap="square" lIns="0" tIns="0" rIns="0" bIns="0" rtlCol="0" anchor="t"/>
          <a:lstStyle/>
          <a:p>
            <a:pPr indent="0" marL="0">
              <a:buNone/>
            </a:pPr>
            <a:r>
              <a:rPr lang="en-US" sz="1300" b="1" dirty="0">
                <a:solidFill>
                  <a:schemeClr val="accent3"/>
                </a:solidFill>
              </a:rPr>
              <a:t>Gap: </a:t>
            </a:r>
            <a:pPr indent="0" marL="0">
              <a:buNone/>
            </a:pPr>
            <a:r>
              <a:rPr lang="en-US" sz="1300" dirty="0">
                <a:solidFill>
                  <a:schemeClr val="accent3"/>
                </a:solidFill>
              </a:rPr>
              <a:t>Each tests one fixed mechanism; privacy is assumed, never attacked.</a:t>
            </a:r>
            <a:endParaRPr lang="en-US" sz="1300" dirty="0"/>
          </a:p>
        </p:txBody>
      </p:sp>
      <p:sp>
        <p:nvSpPr>
          <p:cNvPr id="16" name="Lit card 2"/>
          <p:cNvSpPr/>
          <p:nvPr/>
        </p:nvSpPr>
        <p:spPr>
          <a:xfrm>
            <a:off x="6231636" y="1463040"/>
            <a:ext cx="2567178" cy="3291840"/>
          </a:xfrm>
          <a:prstGeom prst="roundRect">
            <a:avLst>
              <a:gd name="adj" fmla="val 4274"/>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17" name="Lit 2 circle"/>
          <p:cNvSpPr/>
          <p:nvPr/>
        </p:nvSpPr>
        <p:spPr>
          <a:xfrm>
            <a:off x="6460236" y="1691640"/>
            <a:ext cx="640080" cy="640080"/>
          </a:xfrm>
          <a:prstGeom prst="ellipse">
            <a:avLst/>
          </a:prstGeom>
          <a:solidFill>
            <a:schemeClr val="accent1"/>
          </a:solidFill>
          <a:ln w="12700">
            <a:solidFill>
              <a:schemeClr val="accent1"/>
            </a:solidFill>
            <a:prstDash val="solid"/>
          </a:ln>
        </p:spPr>
      </p:sp>
      <p:pic>
        <p:nvPicPr>
          <p:cNvPr id="18" name="Lit 2 icon" descr="preencoded.png">    </p:cNvPr>
          <p:cNvPicPr>
            <a:picLocks noChangeAspect="1"/>
          </p:cNvPicPr>
          <p:nvPr/>
        </p:nvPicPr>
        <p:blipFill>
          <a:blip r:embed="rId3"/>
          <a:stretch>
            <a:fillRect/>
          </a:stretch>
        </p:blipFill>
        <p:spPr>
          <a:xfrm>
            <a:off x="6613855" y="1845259"/>
            <a:ext cx="332842" cy="332842"/>
          </a:xfrm>
          <a:prstGeom prst="rect">
            <a:avLst/>
          </a:prstGeom>
        </p:spPr>
      </p:pic>
      <p:sp>
        <p:nvSpPr>
          <p:cNvPr id="19" name="Text 14"/>
          <p:cNvSpPr txBox="1"/>
          <p:nvPr/>
        </p:nvSpPr>
        <p:spPr>
          <a:xfrm>
            <a:off x="6460236" y="2423160"/>
            <a:ext cx="2109978" cy="365760"/>
          </a:xfrm>
          <a:prstGeom prst="rect">
            <a:avLst/>
          </a:prstGeom>
          <a:noFill/>
          <a:ln/>
        </p:spPr>
        <p:txBody>
          <a:bodyPr wrap="square" lIns="0" tIns="0" rIns="0" bIns="0" rtlCol="0" anchor="ctr"/>
          <a:lstStyle/>
          <a:p>
            <a:pPr indent="0" marL="0">
              <a:buNone/>
            </a:pPr>
            <a:r>
              <a:rPr lang="en-US" sz="1600" b="1" dirty="0">
                <a:solidFill>
                  <a:schemeClr val="tx2"/>
                </a:solidFill>
              </a:rPr>
              <a:t>Differential privacy</a:t>
            </a:r>
            <a:endParaRPr lang="en-US" sz="1600" dirty="0"/>
          </a:p>
        </p:txBody>
      </p:sp>
      <p:sp>
        <p:nvSpPr>
          <p:cNvPr id="20" name="Text 15"/>
          <p:cNvSpPr txBox="1"/>
          <p:nvPr/>
        </p:nvSpPr>
        <p:spPr>
          <a:xfrm>
            <a:off x="6460236" y="2834640"/>
            <a:ext cx="2109978" cy="1188720"/>
          </a:xfrm>
          <a:prstGeom prst="rect">
            <a:avLst/>
          </a:prstGeom>
          <a:noFill/>
          <a:ln/>
        </p:spPr>
        <p:txBody>
          <a:bodyPr wrap="square" lIns="0" tIns="0" rIns="0" bIns="0" rtlCol="0" anchor="t"/>
          <a:lstStyle/>
          <a:p>
            <a:pPr indent="0" marL="0">
              <a:buNone/>
            </a:pPr>
            <a:r>
              <a:rPr lang="en-US" sz="1300" dirty="0">
                <a:solidFill>
                  <a:schemeClr val="tx1"/>
                </a:solidFill>
              </a:rPr>
              <a:t>DP-SGD and privacy accounting give provable guarantees (Abadi 2016; Mironov 2017).</a:t>
            </a:r>
            <a:endParaRPr lang="en-US" sz="1300" dirty="0"/>
          </a:p>
        </p:txBody>
      </p:sp>
      <p:sp>
        <p:nvSpPr>
          <p:cNvPr id="21" name="Text 16"/>
          <p:cNvSpPr txBox="1"/>
          <p:nvPr/>
        </p:nvSpPr>
        <p:spPr>
          <a:xfrm>
            <a:off x="6460236" y="3840480"/>
            <a:ext cx="2109978" cy="868680"/>
          </a:xfrm>
          <a:prstGeom prst="rect">
            <a:avLst/>
          </a:prstGeom>
          <a:noFill/>
          <a:ln/>
        </p:spPr>
        <p:txBody>
          <a:bodyPr wrap="square" lIns="0" tIns="0" rIns="0" bIns="0" rtlCol="0" anchor="t"/>
          <a:lstStyle/>
          <a:p>
            <a:pPr indent="0" marL="0">
              <a:buNone/>
            </a:pPr>
            <a:r>
              <a:rPr lang="en-US" sz="1300" b="1" dirty="0">
                <a:solidFill>
                  <a:schemeClr val="accent3"/>
                </a:solidFill>
              </a:rPr>
              <a:t>Gap: </a:t>
            </a:r>
            <a:pPr indent="0" marL="0">
              <a:buNone/>
            </a:pPr>
            <a:r>
              <a:rPr lang="en-US" sz="1300" dirty="0">
                <a:solidFill>
                  <a:schemeClr val="accent3"/>
                </a:solidFill>
              </a:rPr>
              <a:t>Protect single records on balanced data — not whole accounts in graph data.</a:t>
            </a:r>
            <a:endParaRPr lang="en-US" sz="1300" dirty="0"/>
          </a:p>
        </p:txBody>
      </p:sp>
      <p:sp>
        <p:nvSpPr>
          <p:cNvPr id="22" name="Lit card 3"/>
          <p:cNvSpPr/>
          <p:nvPr/>
        </p:nvSpPr>
        <p:spPr>
          <a:xfrm>
            <a:off x="9073134" y="1463040"/>
            <a:ext cx="2567178" cy="3291840"/>
          </a:xfrm>
          <a:prstGeom prst="roundRect">
            <a:avLst>
              <a:gd name="adj" fmla="val 4274"/>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23" name="Lit 3 circle"/>
          <p:cNvSpPr/>
          <p:nvPr/>
        </p:nvSpPr>
        <p:spPr>
          <a:xfrm>
            <a:off x="9301734" y="1691640"/>
            <a:ext cx="640080" cy="640080"/>
          </a:xfrm>
          <a:prstGeom prst="ellipse">
            <a:avLst/>
          </a:prstGeom>
          <a:solidFill>
            <a:schemeClr val="accent1"/>
          </a:solidFill>
          <a:ln w="12700">
            <a:solidFill>
              <a:schemeClr val="accent1"/>
            </a:solidFill>
            <a:prstDash val="solid"/>
          </a:ln>
        </p:spPr>
      </p:sp>
      <p:pic>
        <p:nvPicPr>
          <p:cNvPr id="24" name="Lit 3 icon" descr="preencoded.png">    </p:cNvPr>
          <p:cNvPicPr>
            <a:picLocks noChangeAspect="1"/>
          </p:cNvPicPr>
          <p:nvPr/>
        </p:nvPicPr>
        <p:blipFill>
          <a:blip r:embed="rId4"/>
          <a:stretch>
            <a:fillRect/>
          </a:stretch>
        </p:blipFill>
        <p:spPr>
          <a:xfrm>
            <a:off x="9455353" y="1845259"/>
            <a:ext cx="332842" cy="332842"/>
          </a:xfrm>
          <a:prstGeom prst="rect">
            <a:avLst/>
          </a:prstGeom>
        </p:spPr>
      </p:pic>
      <p:sp>
        <p:nvSpPr>
          <p:cNvPr id="25" name="Text 19"/>
          <p:cNvSpPr txBox="1"/>
          <p:nvPr/>
        </p:nvSpPr>
        <p:spPr>
          <a:xfrm>
            <a:off x="9301734" y="2423160"/>
            <a:ext cx="2109978" cy="365760"/>
          </a:xfrm>
          <a:prstGeom prst="rect">
            <a:avLst/>
          </a:prstGeom>
          <a:noFill/>
          <a:ln/>
        </p:spPr>
        <p:txBody>
          <a:bodyPr wrap="square" lIns="0" tIns="0" rIns="0" bIns="0" rtlCol="0" anchor="ctr"/>
          <a:lstStyle/>
          <a:p>
            <a:pPr indent="0" marL="0">
              <a:buNone/>
            </a:pPr>
            <a:r>
              <a:rPr lang="en-US" sz="1600" b="1" dirty="0">
                <a:solidFill>
                  <a:schemeClr val="tx2"/>
                </a:solidFill>
              </a:rPr>
              <a:t>Privacy attacks</a:t>
            </a:r>
            <a:endParaRPr lang="en-US" sz="1600" dirty="0"/>
          </a:p>
        </p:txBody>
      </p:sp>
      <p:sp>
        <p:nvSpPr>
          <p:cNvPr id="26" name="Text 20"/>
          <p:cNvSpPr txBox="1"/>
          <p:nvPr/>
        </p:nvSpPr>
        <p:spPr>
          <a:xfrm>
            <a:off x="9301734" y="2834640"/>
            <a:ext cx="2109978" cy="1188720"/>
          </a:xfrm>
          <a:prstGeom prst="rect">
            <a:avLst/>
          </a:prstGeom>
          <a:noFill/>
          <a:ln/>
        </p:spPr>
        <p:txBody>
          <a:bodyPr wrap="square" lIns="0" tIns="0" rIns="0" bIns="0" rtlCol="0" anchor="t"/>
          <a:lstStyle/>
          <a:p>
            <a:pPr indent="0" marL="0">
              <a:buNone/>
            </a:pPr>
            <a:r>
              <a:rPr lang="en-US" sz="1300" dirty="0">
                <a:solidFill>
                  <a:schemeClr val="tx1"/>
                </a:solidFill>
              </a:rPr>
              <a:t>Membership and inference attacks measure real leakage (Shokri 2017; Carlini 2022).</a:t>
            </a:r>
            <a:endParaRPr lang="en-US" sz="1300" dirty="0"/>
          </a:p>
        </p:txBody>
      </p:sp>
      <p:sp>
        <p:nvSpPr>
          <p:cNvPr id="27" name="Text 21"/>
          <p:cNvSpPr txBox="1"/>
          <p:nvPr/>
        </p:nvSpPr>
        <p:spPr>
          <a:xfrm>
            <a:off x="9301734" y="3840480"/>
            <a:ext cx="2109978" cy="868680"/>
          </a:xfrm>
          <a:prstGeom prst="rect">
            <a:avLst/>
          </a:prstGeom>
          <a:noFill/>
          <a:ln/>
        </p:spPr>
        <p:txBody>
          <a:bodyPr wrap="square" lIns="0" tIns="0" rIns="0" bIns="0" rtlCol="0" anchor="t"/>
          <a:lstStyle/>
          <a:p>
            <a:pPr indent="0" marL="0">
              <a:buNone/>
            </a:pPr>
            <a:r>
              <a:rPr lang="en-US" sz="1300" b="1" dirty="0">
                <a:solidFill>
                  <a:schemeClr val="accent3"/>
                </a:solidFill>
              </a:rPr>
              <a:t>Gap: </a:t>
            </a:r>
            <a:pPr indent="0" marL="0">
              <a:buNone/>
            </a:pPr>
            <a:r>
              <a:rPr lang="en-US" sz="1300" dirty="0">
                <a:solidFill>
                  <a:schemeClr val="accent3"/>
                </a:solidFill>
              </a:rPr>
              <a:t>Applied to models, not to the evidence banks exchange.</a:t>
            </a:r>
            <a:endParaRPr lang="en-US" sz="1300" dirty="0"/>
          </a:p>
        </p:txBody>
      </p:sp>
      <p:sp>
        <p:nvSpPr>
          <p:cNvPr id="28" name="Text 22"/>
          <p:cNvSpPr txBox="1"/>
          <p:nvPr/>
        </p:nvSpPr>
        <p:spPr>
          <a:xfrm>
            <a:off x="548640" y="4892040"/>
            <a:ext cx="11091672" cy="502920"/>
          </a:xfrm>
          <a:prstGeom prst="rect">
            <a:avLst/>
          </a:prstGeom>
          <a:noFill/>
          <a:ln/>
        </p:spPr>
        <p:txBody>
          <a:bodyPr wrap="square" lIns="0" tIns="0" rIns="0" bIns="0" rtlCol="0" anchor="t"/>
          <a:lstStyle/>
          <a:p>
            <a:pPr indent="0" marL="0">
              <a:buNone/>
            </a:pPr>
            <a:r>
              <a:rPr lang="en-US" sz="1300" b="1" dirty="0">
                <a:solidFill>
                  <a:schemeClr val="tx2"/>
                </a:solidFill>
              </a:rPr>
              <a:t>Market: </a:t>
            </a:r>
            <a:pPr indent="0" marL="0">
              <a:buNone/>
            </a:pPr>
            <a:r>
              <a:rPr lang="en-US" sz="1300" dirty="0">
                <a:solidFill>
                  <a:schemeClr val="tx1"/>
                </a:solidFill>
              </a:rPr>
              <a:t>Swift's federated trials with 13 banks, BIS Project Aurora and the UK–US PETs Prize show strong industry demand — all report detection gains, none measures what leaks.</a:t>
            </a:r>
            <a:endParaRPr lang="en-US" sz="1300" dirty="0"/>
          </a:p>
        </p:txBody>
      </p:sp>
      <p:sp>
        <p:nvSpPr>
          <p:cNvPr id="29" name="Research gap banner"/>
          <p:cNvSpPr/>
          <p:nvPr/>
        </p:nvSpPr>
        <p:spPr>
          <a:xfrm>
            <a:off x="548640" y="5577840"/>
            <a:ext cx="11091672" cy="685800"/>
          </a:xfrm>
          <a:prstGeom prst="roundRect">
            <a:avLst>
              <a:gd name="adj" fmla="val 16000"/>
            </a:avLst>
          </a:prstGeom>
          <a:solidFill>
            <a:schemeClr val="tx2"/>
          </a:solidFill>
          <a:ln w="12700">
            <a:solidFill>
              <a:schemeClr val="tx2"/>
            </a:solidFill>
            <a:prstDash val="solid"/>
          </a:ln>
          <a:effectLst>
            <a:outerShdw sx="100000" sy="100000" kx="0" ky="0" algn="bl" rotWithShape="0" blurRad="76200" dist="25400" dir="5400000">
              <a:srgbClr val="9AA5B1">
                <a:alpha val="35000"/>
              </a:srgbClr>
            </a:outerShdw>
          </a:effectLst>
        </p:spPr>
      </p:sp>
      <p:sp>
        <p:nvSpPr>
          <p:cNvPr id="30" name="Text 24"/>
          <p:cNvSpPr txBox="1"/>
          <p:nvPr/>
        </p:nvSpPr>
        <p:spPr>
          <a:xfrm>
            <a:off x="822960" y="5577840"/>
            <a:ext cx="10543032" cy="685800"/>
          </a:xfrm>
          <a:prstGeom prst="rect">
            <a:avLst/>
          </a:prstGeom>
          <a:noFill/>
          <a:ln/>
        </p:spPr>
        <p:txBody>
          <a:bodyPr wrap="square" lIns="0" tIns="0" rIns="0" bIns="0" rtlCol="0" anchor="ctr"/>
          <a:lstStyle/>
          <a:p>
            <a:pPr indent="0" marL="0">
              <a:buNone/>
            </a:pPr>
            <a:r>
              <a:rPr lang="en-US" sz="1500" b="1" dirty="0">
                <a:solidFill>
                  <a:schemeClr val="accent2"/>
                </a:solidFill>
              </a:rPr>
              <a:t>Research gap:  </a:t>
            </a:r>
            <a:pPr indent="0" marL="0">
              <a:buNone/>
            </a:pPr>
            <a:r>
              <a:rPr lang="en-US" sz="1500" dirty="0">
                <a:solidFill>
                  <a:schemeClr val="bg1"/>
                </a:solidFill>
              </a:rPr>
              <a:t>no study measures, on one dataset and one attack suite, how detection gain and privacy leakage change with what banks share.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94392"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Research objectives and SDG alignment</a:t>
            </a:r>
            <a:endParaRPr lang="en-US" sz="3200" dirty="0"/>
          </a:p>
        </p:txBody>
      </p:sp>
      <p:sp>
        <p:nvSpPr>
          <p:cNvPr id="3" name="Objective 1 badge"/>
          <p:cNvSpPr/>
          <p:nvPr/>
        </p:nvSpPr>
        <p:spPr>
          <a:xfrm>
            <a:off x="548640" y="128016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548640" y="12801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O1</a:t>
            </a:r>
            <a:endParaRPr lang="en-US" sz="1500" dirty="0"/>
          </a:p>
        </p:txBody>
      </p:sp>
      <p:sp>
        <p:nvSpPr>
          <p:cNvPr id="5" name="Text 3"/>
          <p:cNvSpPr txBox="1"/>
          <p:nvPr/>
        </p:nvSpPr>
        <p:spPr>
          <a:xfrm>
            <a:off x="1325880" y="1234440"/>
            <a:ext cx="5852160" cy="320040"/>
          </a:xfrm>
          <a:prstGeom prst="rect">
            <a:avLst/>
          </a:prstGeom>
          <a:noFill/>
          <a:ln/>
        </p:spPr>
        <p:txBody>
          <a:bodyPr wrap="square" lIns="0" tIns="0" rIns="0" bIns="0" rtlCol="0" anchor="ctr"/>
          <a:lstStyle/>
          <a:p>
            <a:pPr indent="0" marL="0">
              <a:buNone/>
            </a:pPr>
            <a:r>
              <a:rPr lang="en-US" sz="1600" b="1" dirty="0">
                <a:solidFill>
                  <a:schemeClr val="tx2"/>
                </a:solidFill>
              </a:rPr>
              <a:t>Measure the trade-off</a:t>
            </a:r>
            <a:endParaRPr lang="en-US" sz="1600" dirty="0"/>
          </a:p>
        </p:txBody>
      </p:sp>
      <p:sp>
        <p:nvSpPr>
          <p:cNvPr id="6" name="Text 4"/>
          <p:cNvSpPr txBox="1"/>
          <p:nvPr/>
        </p:nvSpPr>
        <p:spPr>
          <a:xfrm>
            <a:off x="1325880" y="1563624"/>
            <a:ext cx="5852160" cy="502920"/>
          </a:xfrm>
          <a:prstGeom prst="rect">
            <a:avLst/>
          </a:prstGeom>
          <a:noFill/>
          <a:ln/>
        </p:spPr>
        <p:txBody>
          <a:bodyPr wrap="square" lIns="0" tIns="0" rIns="0" bIns="0" rtlCol="0" anchor="t"/>
          <a:lstStyle/>
          <a:p>
            <a:pPr indent="0" marL="0">
              <a:buNone/>
            </a:pPr>
            <a:r>
              <a:rPr lang="en-US" sz="1400" dirty="0">
                <a:solidFill>
                  <a:schemeClr val="tx1"/>
                </a:solidFill>
              </a:rPr>
              <a:t>Compare detection gain and privacy leakage across five sharing levels, from nothing to full records.</a:t>
            </a:r>
            <a:endParaRPr lang="en-US" sz="1400" dirty="0"/>
          </a:p>
        </p:txBody>
      </p:sp>
      <p:sp>
        <p:nvSpPr>
          <p:cNvPr id="7" name="Objective 2 badge"/>
          <p:cNvSpPr/>
          <p:nvPr/>
        </p:nvSpPr>
        <p:spPr>
          <a:xfrm>
            <a:off x="548640" y="224028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548640" y="224028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O2</a:t>
            </a:r>
            <a:endParaRPr lang="en-US" sz="1500" dirty="0"/>
          </a:p>
        </p:txBody>
      </p:sp>
      <p:sp>
        <p:nvSpPr>
          <p:cNvPr id="9" name="Text 7"/>
          <p:cNvSpPr txBox="1"/>
          <p:nvPr/>
        </p:nvSpPr>
        <p:spPr>
          <a:xfrm>
            <a:off x="1325880" y="2194560"/>
            <a:ext cx="5852160" cy="320040"/>
          </a:xfrm>
          <a:prstGeom prst="rect">
            <a:avLst/>
          </a:prstGeom>
          <a:noFill/>
          <a:ln/>
        </p:spPr>
        <p:txBody>
          <a:bodyPr wrap="square" lIns="0" tIns="0" rIns="0" bIns="0" rtlCol="0" anchor="ctr"/>
          <a:lstStyle/>
          <a:p>
            <a:pPr indent="0" marL="0">
              <a:buNone/>
            </a:pPr>
            <a:r>
              <a:rPr lang="en-US" sz="1600" b="1" dirty="0">
                <a:solidFill>
                  <a:schemeClr val="tx2"/>
                </a:solidFill>
              </a:rPr>
              <a:t>Match accounts privately</a:t>
            </a:r>
            <a:endParaRPr lang="en-US" sz="1600" dirty="0"/>
          </a:p>
        </p:txBody>
      </p:sp>
      <p:sp>
        <p:nvSpPr>
          <p:cNvPr id="10" name="Text 8"/>
          <p:cNvSpPr txBox="1"/>
          <p:nvPr/>
        </p:nvSpPr>
        <p:spPr>
          <a:xfrm>
            <a:off x="1325880" y="2523744"/>
            <a:ext cx="5852160" cy="502920"/>
          </a:xfrm>
          <a:prstGeom prst="rect">
            <a:avLst/>
          </a:prstGeom>
          <a:noFill/>
          <a:ln/>
        </p:spPr>
        <p:txBody>
          <a:bodyPr wrap="square" lIns="0" tIns="0" rIns="0" bIns="0" rtlCol="0" anchor="t"/>
          <a:lstStyle/>
          <a:p>
            <a:pPr indent="0" marL="0">
              <a:buNone/>
            </a:pPr>
            <a:r>
              <a:rPr lang="en-US" sz="1400" dirty="0">
                <a:solidFill>
                  <a:schemeClr val="tx1"/>
                </a:solidFill>
              </a:rPr>
              <a:t>Link the same account across banks with OPRF tokens instead of revealing account numbers.</a:t>
            </a:r>
            <a:endParaRPr lang="en-US" sz="1400" dirty="0"/>
          </a:p>
        </p:txBody>
      </p:sp>
      <p:sp>
        <p:nvSpPr>
          <p:cNvPr id="11" name="Objective 3 badge"/>
          <p:cNvSpPr/>
          <p:nvPr/>
        </p:nvSpPr>
        <p:spPr>
          <a:xfrm>
            <a:off x="548640" y="320040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548640" y="320040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O3</a:t>
            </a:r>
            <a:endParaRPr lang="en-US" sz="1500" dirty="0"/>
          </a:p>
        </p:txBody>
      </p:sp>
      <p:sp>
        <p:nvSpPr>
          <p:cNvPr id="13" name="Text 11"/>
          <p:cNvSpPr txBox="1"/>
          <p:nvPr/>
        </p:nvSpPr>
        <p:spPr>
          <a:xfrm>
            <a:off x="1325880" y="3154680"/>
            <a:ext cx="5852160" cy="320040"/>
          </a:xfrm>
          <a:prstGeom prst="rect">
            <a:avLst/>
          </a:prstGeom>
          <a:noFill/>
          <a:ln/>
        </p:spPr>
        <p:txBody>
          <a:bodyPr wrap="square" lIns="0" tIns="0" rIns="0" bIns="0" rtlCol="0" anchor="ctr"/>
          <a:lstStyle/>
          <a:p>
            <a:pPr indent="0" marL="0">
              <a:buNone/>
            </a:pPr>
            <a:r>
              <a:rPr lang="en-US" sz="1600" b="1" dirty="0">
                <a:solidFill>
                  <a:schemeClr val="tx2"/>
                </a:solidFill>
              </a:rPr>
              <a:t>Train a private shared model</a:t>
            </a:r>
            <a:endParaRPr lang="en-US" sz="1600" dirty="0"/>
          </a:p>
        </p:txBody>
      </p:sp>
      <p:sp>
        <p:nvSpPr>
          <p:cNvPr id="14" name="Text 12"/>
          <p:cNvSpPr txBox="1"/>
          <p:nvPr/>
        </p:nvSpPr>
        <p:spPr>
          <a:xfrm>
            <a:off x="1325880" y="3483864"/>
            <a:ext cx="5852160" cy="502920"/>
          </a:xfrm>
          <a:prstGeom prst="rect">
            <a:avLst/>
          </a:prstGeom>
          <a:noFill/>
          <a:ln/>
        </p:spPr>
        <p:txBody>
          <a:bodyPr wrap="square" lIns="0" tIns="0" rIns="0" bIns="0" rtlCol="0" anchor="t"/>
          <a:lstStyle/>
          <a:p>
            <a:pPr indent="0" marL="0">
              <a:buNone/>
            </a:pPr>
            <a:r>
              <a:rPr lang="en-US" sz="1400" dirty="0">
                <a:solidFill>
                  <a:schemeClr val="tx1"/>
                </a:solidFill>
              </a:rPr>
              <a:t>Federated learning with differential privacy that protects whole accounts, and measure its cost.</a:t>
            </a:r>
            <a:endParaRPr lang="en-US" sz="1400" dirty="0"/>
          </a:p>
        </p:txBody>
      </p:sp>
      <p:sp>
        <p:nvSpPr>
          <p:cNvPr id="15" name="Objective 4 badge"/>
          <p:cNvSpPr/>
          <p:nvPr/>
        </p:nvSpPr>
        <p:spPr>
          <a:xfrm>
            <a:off x="548640" y="4160520"/>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548640" y="416052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O4</a:t>
            </a:r>
            <a:endParaRPr lang="en-US" sz="1500" dirty="0"/>
          </a:p>
        </p:txBody>
      </p:sp>
      <p:sp>
        <p:nvSpPr>
          <p:cNvPr id="17" name="Text 15"/>
          <p:cNvSpPr txBox="1"/>
          <p:nvPr/>
        </p:nvSpPr>
        <p:spPr>
          <a:xfrm>
            <a:off x="1325880" y="4114800"/>
            <a:ext cx="5852160" cy="320040"/>
          </a:xfrm>
          <a:prstGeom prst="rect">
            <a:avLst/>
          </a:prstGeom>
          <a:noFill/>
          <a:ln/>
        </p:spPr>
        <p:txBody>
          <a:bodyPr wrap="square" lIns="0" tIns="0" rIns="0" bIns="0" rtlCol="0" anchor="ctr"/>
          <a:lstStyle/>
          <a:p>
            <a:pPr indent="0" marL="0">
              <a:buNone/>
            </a:pPr>
            <a:r>
              <a:rPr lang="en-US" sz="1600" b="1" dirty="0">
                <a:solidFill>
                  <a:schemeClr val="tx2"/>
                </a:solidFill>
              </a:rPr>
              <a:t>Explain each alert</a:t>
            </a:r>
            <a:endParaRPr lang="en-US" sz="1600" dirty="0"/>
          </a:p>
        </p:txBody>
      </p:sp>
      <p:sp>
        <p:nvSpPr>
          <p:cNvPr id="18" name="Text 16"/>
          <p:cNvSpPr txBox="1"/>
          <p:nvPr/>
        </p:nvSpPr>
        <p:spPr>
          <a:xfrm>
            <a:off x="1325880" y="4443984"/>
            <a:ext cx="5852160" cy="502920"/>
          </a:xfrm>
          <a:prstGeom prst="rect">
            <a:avLst/>
          </a:prstGeom>
          <a:noFill/>
          <a:ln/>
        </p:spPr>
        <p:txBody>
          <a:bodyPr wrap="square" lIns="0" tIns="0" rIns="0" bIns="0" rtlCol="0" anchor="t"/>
          <a:lstStyle/>
          <a:p>
            <a:pPr indent="0" marL="0">
              <a:buNone/>
            </a:pPr>
            <a:r>
              <a:rPr lang="en-US" sz="1400" dirty="0">
                <a:solidFill>
                  <a:schemeClr val="tx1"/>
                </a:solidFill>
              </a:rPr>
              <a:t>Identify the laundering pattern and draft a grounded analyst narrative.</a:t>
            </a:r>
            <a:endParaRPr lang="en-US" sz="1400" dirty="0"/>
          </a:p>
        </p:txBody>
      </p:sp>
      <p:sp>
        <p:nvSpPr>
          <p:cNvPr id="19" name="Objective 5 badge"/>
          <p:cNvSpPr/>
          <p:nvPr/>
        </p:nvSpPr>
        <p:spPr>
          <a:xfrm>
            <a:off x="548640" y="5120640"/>
            <a:ext cx="566928" cy="566928"/>
          </a:xfrm>
          <a:prstGeom prst="ellipse">
            <a:avLst/>
          </a:prstGeom>
          <a:solidFill>
            <a:schemeClr val="accent1"/>
          </a:solidFill>
          <a:ln w="12700">
            <a:solidFill>
              <a:schemeClr val="accent1"/>
            </a:solidFill>
            <a:prstDash val="solid"/>
          </a:ln>
        </p:spPr>
      </p:sp>
      <p:sp>
        <p:nvSpPr>
          <p:cNvPr id="20" name="Text 18"/>
          <p:cNvSpPr txBox="1"/>
          <p:nvPr/>
        </p:nvSpPr>
        <p:spPr>
          <a:xfrm>
            <a:off x="548640" y="512064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O5</a:t>
            </a:r>
            <a:endParaRPr lang="en-US" sz="1500" dirty="0"/>
          </a:p>
        </p:txBody>
      </p:sp>
      <p:sp>
        <p:nvSpPr>
          <p:cNvPr id="21" name="Text 19"/>
          <p:cNvSpPr txBox="1"/>
          <p:nvPr/>
        </p:nvSpPr>
        <p:spPr>
          <a:xfrm>
            <a:off x="1325880" y="5074920"/>
            <a:ext cx="5852160" cy="320040"/>
          </a:xfrm>
          <a:prstGeom prst="rect">
            <a:avLst/>
          </a:prstGeom>
          <a:noFill/>
          <a:ln/>
        </p:spPr>
        <p:txBody>
          <a:bodyPr wrap="square" lIns="0" tIns="0" rIns="0" bIns="0" rtlCol="0" anchor="ctr"/>
          <a:lstStyle/>
          <a:p>
            <a:pPr indent="0" marL="0">
              <a:buNone/>
            </a:pPr>
            <a:r>
              <a:rPr lang="en-US" sz="1600" b="1" dirty="0">
                <a:solidFill>
                  <a:schemeClr val="tx2"/>
                </a:solidFill>
              </a:rPr>
              <a:t>Deliver a usable prototype</a:t>
            </a:r>
            <a:endParaRPr lang="en-US" sz="1600" dirty="0"/>
          </a:p>
        </p:txBody>
      </p:sp>
      <p:sp>
        <p:nvSpPr>
          <p:cNvPr id="22" name="Text 20"/>
          <p:cNvSpPr txBox="1"/>
          <p:nvPr/>
        </p:nvSpPr>
        <p:spPr>
          <a:xfrm>
            <a:off x="1325880" y="5404104"/>
            <a:ext cx="5852160" cy="502920"/>
          </a:xfrm>
          <a:prstGeom prst="rect">
            <a:avLst/>
          </a:prstGeom>
          <a:noFill/>
          <a:ln/>
        </p:spPr>
        <p:txBody>
          <a:bodyPr wrap="square" lIns="0" tIns="0" rIns="0" bIns="0" rtlCol="0" anchor="t"/>
          <a:lstStyle/>
          <a:p>
            <a:pPr indent="0" marL="0">
              <a:buNone/>
            </a:pPr>
            <a:r>
              <a:rPr lang="en-US" sz="1400" dirty="0">
                <a:solidFill>
                  <a:schemeClr val="tx1"/>
                </a:solidFill>
              </a:rPr>
              <a:t>Analyst console, privacy ledger and fully reproducible results.</a:t>
            </a:r>
            <a:endParaRPr lang="en-US" sz="1400" dirty="0"/>
          </a:p>
        </p:txBody>
      </p:sp>
      <p:sp>
        <p:nvSpPr>
          <p:cNvPr id="23" name="Text 21"/>
          <p:cNvSpPr txBox="1"/>
          <p:nvPr/>
        </p:nvSpPr>
        <p:spPr>
          <a:xfrm>
            <a:off x="7589520" y="1188720"/>
            <a:ext cx="4050792" cy="365760"/>
          </a:xfrm>
          <a:prstGeom prst="rect">
            <a:avLst/>
          </a:prstGeom>
          <a:noFill/>
          <a:ln/>
        </p:spPr>
        <p:txBody>
          <a:bodyPr wrap="square" lIns="0" tIns="0" rIns="0" bIns="0" rtlCol="0" anchor="ctr"/>
          <a:lstStyle/>
          <a:p>
            <a:pPr indent="0" marL="0">
              <a:buNone/>
            </a:pPr>
            <a:r>
              <a:rPr lang="en-US" sz="1600" b="1" dirty="0">
                <a:solidFill>
                  <a:schemeClr val="tx2"/>
                </a:solidFill>
              </a:rPr>
              <a:t>UN Sustainable Development Goals</a:t>
            </a:r>
            <a:endParaRPr lang="en-US" sz="1600" dirty="0"/>
          </a:p>
        </p:txBody>
      </p:sp>
      <p:sp>
        <p:nvSpPr>
          <p:cNvPr id="24" name="SDG 16 card"/>
          <p:cNvSpPr/>
          <p:nvPr/>
        </p:nvSpPr>
        <p:spPr>
          <a:xfrm>
            <a:off x="7589520" y="1691640"/>
            <a:ext cx="4050792" cy="1298448"/>
          </a:xfrm>
          <a:prstGeom prst="roundRect">
            <a:avLst>
              <a:gd name="adj" fmla="val 8451"/>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25" name="SDG 16 tile"/>
          <p:cNvSpPr/>
          <p:nvPr/>
        </p:nvSpPr>
        <p:spPr>
          <a:xfrm>
            <a:off x="7772400" y="1874520"/>
            <a:ext cx="914400" cy="914400"/>
          </a:xfrm>
          <a:prstGeom prst="roundRect">
            <a:avLst>
              <a:gd name="adj" fmla="val 8000"/>
            </a:avLst>
          </a:prstGeom>
          <a:solidFill>
            <a:srgbClr val="00689D"/>
          </a:solidFill>
          <a:ln w="12700">
            <a:solidFill>
              <a:srgbClr val="00689D"/>
            </a:solidFill>
            <a:prstDash val="solid"/>
          </a:ln>
        </p:spPr>
      </p:sp>
      <p:sp>
        <p:nvSpPr>
          <p:cNvPr id="26" name="Text 24"/>
          <p:cNvSpPr txBox="1"/>
          <p:nvPr/>
        </p:nvSpPr>
        <p:spPr>
          <a:xfrm>
            <a:off x="7772400" y="1874520"/>
            <a:ext cx="914400" cy="914400"/>
          </a:xfrm>
          <a:prstGeom prst="rect">
            <a:avLst/>
          </a:prstGeom>
          <a:noFill/>
          <a:ln/>
        </p:spPr>
        <p:txBody>
          <a:bodyPr wrap="square" lIns="0" tIns="0" rIns="0" bIns="0" rtlCol="0" anchor="ctr"/>
          <a:lstStyle/>
          <a:p>
            <a:pPr algn="ctr" indent="0" marL="0">
              <a:buNone/>
            </a:pPr>
            <a:r>
              <a:rPr lang="en-US" sz="1100" dirty="0">
                <a:solidFill>
                  <a:srgbClr val="FFFFFF"/>
                </a:solidFill>
              </a:rPr>
              <a:t>SDG</a:t>
            </a:r>
            <a:endParaRPr lang="en-US" sz="1100" dirty="0"/>
          </a:p>
          <a:p>
            <a:pPr algn="ctr" indent="0" marL="0">
              <a:buNone/>
            </a:pPr>
            <a:r>
              <a:rPr lang="en-US" sz="2800" b="1" dirty="0">
                <a:solidFill>
                  <a:srgbClr val="FFFFFF"/>
                </a:solidFill>
              </a:rPr>
              <a:t>16</a:t>
            </a:r>
            <a:endParaRPr lang="en-US" sz="1100" dirty="0"/>
          </a:p>
        </p:txBody>
      </p:sp>
      <p:sp>
        <p:nvSpPr>
          <p:cNvPr id="27" name="Text 25"/>
          <p:cNvSpPr txBox="1"/>
          <p:nvPr/>
        </p:nvSpPr>
        <p:spPr>
          <a:xfrm>
            <a:off x="8869680" y="1828800"/>
            <a:ext cx="2633472" cy="457200"/>
          </a:xfrm>
          <a:prstGeom prst="rect">
            <a:avLst/>
          </a:prstGeom>
          <a:noFill/>
          <a:ln/>
        </p:spPr>
        <p:txBody>
          <a:bodyPr wrap="square" lIns="0" tIns="0" rIns="0" bIns="0" rtlCol="0" anchor="t"/>
          <a:lstStyle/>
          <a:p>
            <a:pPr indent="0" marL="0">
              <a:buNone/>
            </a:pPr>
            <a:r>
              <a:rPr lang="en-US" sz="1300" b="1" dirty="0">
                <a:solidFill>
                  <a:schemeClr val="tx2"/>
                </a:solidFill>
              </a:rPr>
              <a:t>Peace, Justice and Strong Institutions</a:t>
            </a:r>
            <a:endParaRPr lang="en-US" sz="1300" dirty="0"/>
          </a:p>
        </p:txBody>
      </p:sp>
      <p:sp>
        <p:nvSpPr>
          <p:cNvPr id="28" name="Text 26"/>
          <p:cNvSpPr txBox="1"/>
          <p:nvPr/>
        </p:nvSpPr>
        <p:spPr>
          <a:xfrm>
            <a:off x="8869680" y="2286000"/>
            <a:ext cx="2633472" cy="640080"/>
          </a:xfrm>
          <a:prstGeom prst="rect">
            <a:avLst/>
          </a:prstGeom>
          <a:noFill/>
          <a:ln/>
        </p:spPr>
        <p:txBody>
          <a:bodyPr wrap="square" lIns="0" tIns="0" rIns="0" bIns="0" rtlCol="0" anchor="t"/>
          <a:lstStyle/>
          <a:p>
            <a:pPr indent="0" marL="0">
              <a:buNone/>
            </a:pPr>
            <a:r>
              <a:rPr lang="en-US" sz="1200" dirty="0">
                <a:solidFill>
                  <a:schemeClr val="tx1"/>
                </a:solidFill>
              </a:rPr>
              <a:t>Target 16.4: significantly reduce illicit financial flows</a:t>
            </a:r>
            <a:endParaRPr lang="en-US" sz="1200" dirty="0"/>
          </a:p>
        </p:txBody>
      </p:sp>
      <p:sp>
        <p:nvSpPr>
          <p:cNvPr id="29" name="SDG 8 card"/>
          <p:cNvSpPr/>
          <p:nvPr/>
        </p:nvSpPr>
        <p:spPr>
          <a:xfrm>
            <a:off x="7589520" y="3172968"/>
            <a:ext cx="4050792" cy="1298448"/>
          </a:xfrm>
          <a:prstGeom prst="roundRect">
            <a:avLst>
              <a:gd name="adj" fmla="val 8451"/>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30" name="SDG 8 tile"/>
          <p:cNvSpPr/>
          <p:nvPr/>
        </p:nvSpPr>
        <p:spPr>
          <a:xfrm>
            <a:off x="7772400" y="3355848"/>
            <a:ext cx="914400" cy="914400"/>
          </a:xfrm>
          <a:prstGeom prst="roundRect">
            <a:avLst>
              <a:gd name="adj" fmla="val 8000"/>
            </a:avLst>
          </a:prstGeom>
          <a:solidFill>
            <a:srgbClr val="A21942"/>
          </a:solidFill>
          <a:ln w="12700">
            <a:solidFill>
              <a:srgbClr val="A21942"/>
            </a:solidFill>
            <a:prstDash val="solid"/>
          </a:ln>
        </p:spPr>
      </p:sp>
      <p:sp>
        <p:nvSpPr>
          <p:cNvPr id="31" name="Text 29"/>
          <p:cNvSpPr txBox="1"/>
          <p:nvPr/>
        </p:nvSpPr>
        <p:spPr>
          <a:xfrm>
            <a:off x="7772400" y="3355848"/>
            <a:ext cx="914400" cy="914400"/>
          </a:xfrm>
          <a:prstGeom prst="rect">
            <a:avLst/>
          </a:prstGeom>
          <a:noFill/>
          <a:ln/>
        </p:spPr>
        <p:txBody>
          <a:bodyPr wrap="square" lIns="0" tIns="0" rIns="0" bIns="0" rtlCol="0" anchor="ctr"/>
          <a:lstStyle/>
          <a:p>
            <a:pPr algn="ctr" indent="0" marL="0">
              <a:buNone/>
            </a:pPr>
            <a:r>
              <a:rPr lang="en-US" sz="1100" dirty="0">
                <a:solidFill>
                  <a:srgbClr val="FFFFFF"/>
                </a:solidFill>
              </a:rPr>
              <a:t>SDG</a:t>
            </a:r>
            <a:endParaRPr lang="en-US" sz="1100" dirty="0"/>
          </a:p>
          <a:p>
            <a:pPr algn="ctr" indent="0" marL="0">
              <a:buNone/>
            </a:pPr>
            <a:r>
              <a:rPr lang="en-US" sz="2800" b="1" dirty="0">
                <a:solidFill>
                  <a:srgbClr val="FFFFFF"/>
                </a:solidFill>
              </a:rPr>
              <a:t>8</a:t>
            </a:r>
            <a:endParaRPr lang="en-US" sz="1100" dirty="0"/>
          </a:p>
        </p:txBody>
      </p:sp>
      <p:sp>
        <p:nvSpPr>
          <p:cNvPr id="32" name="Text 30"/>
          <p:cNvSpPr txBox="1"/>
          <p:nvPr/>
        </p:nvSpPr>
        <p:spPr>
          <a:xfrm>
            <a:off x="8869680" y="3310128"/>
            <a:ext cx="2633472" cy="457200"/>
          </a:xfrm>
          <a:prstGeom prst="rect">
            <a:avLst/>
          </a:prstGeom>
          <a:noFill/>
          <a:ln/>
        </p:spPr>
        <p:txBody>
          <a:bodyPr wrap="square" lIns="0" tIns="0" rIns="0" bIns="0" rtlCol="0" anchor="t"/>
          <a:lstStyle/>
          <a:p>
            <a:pPr indent="0" marL="0">
              <a:buNone/>
            </a:pPr>
            <a:r>
              <a:rPr lang="en-US" sz="1300" b="1" dirty="0">
                <a:solidFill>
                  <a:schemeClr val="tx2"/>
                </a:solidFill>
              </a:rPr>
              <a:t>Decent Work and Economic Growth</a:t>
            </a:r>
            <a:endParaRPr lang="en-US" sz="1300" dirty="0"/>
          </a:p>
        </p:txBody>
      </p:sp>
      <p:sp>
        <p:nvSpPr>
          <p:cNvPr id="33" name="Text 31"/>
          <p:cNvSpPr txBox="1"/>
          <p:nvPr/>
        </p:nvSpPr>
        <p:spPr>
          <a:xfrm>
            <a:off x="8869680" y="3767328"/>
            <a:ext cx="2633472" cy="640080"/>
          </a:xfrm>
          <a:prstGeom prst="rect">
            <a:avLst/>
          </a:prstGeom>
          <a:noFill/>
          <a:ln/>
        </p:spPr>
        <p:txBody>
          <a:bodyPr wrap="square" lIns="0" tIns="0" rIns="0" bIns="0" rtlCol="0" anchor="t"/>
          <a:lstStyle/>
          <a:p>
            <a:pPr indent="0" marL="0">
              <a:buNone/>
            </a:pPr>
            <a:r>
              <a:rPr lang="en-US" sz="1200" dirty="0">
                <a:solidFill>
                  <a:schemeClr val="tx1"/>
                </a:solidFill>
              </a:rPr>
              <a:t>Target 8.10: strengthen the capacity of financial institutions</a:t>
            </a:r>
            <a:endParaRPr lang="en-US" sz="1200" dirty="0"/>
          </a:p>
        </p:txBody>
      </p:sp>
      <p:sp>
        <p:nvSpPr>
          <p:cNvPr id="34" name="SDG 9 card"/>
          <p:cNvSpPr/>
          <p:nvPr/>
        </p:nvSpPr>
        <p:spPr>
          <a:xfrm>
            <a:off x="7589520" y="4654296"/>
            <a:ext cx="4050792" cy="1298448"/>
          </a:xfrm>
          <a:prstGeom prst="roundRect">
            <a:avLst>
              <a:gd name="adj" fmla="val 8451"/>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35" name="SDG 9 tile"/>
          <p:cNvSpPr/>
          <p:nvPr/>
        </p:nvSpPr>
        <p:spPr>
          <a:xfrm>
            <a:off x="7772400" y="4837176"/>
            <a:ext cx="914400" cy="914400"/>
          </a:xfrm>
          <a:prstGeom prst="roundRect">
            <a:avLst>
              <a:gd name="adj" fmla="val 8000"/>
            </a:avLst>
          </a:prstGeom>
          <a:solidFill>
            <a:srgbClr val="FD6925"/>
          </a:solidFill>
          <a:ln w="12700">
            <a:solidFill>
              <a:srgbClr val="FD6925"/>
            </a:solidFill>
            <a:prstDash val="solid"/>
          </a:ln>
        </p:spPr>
      </p:sp>
      <p:sp>
        <p:nvSpPr>
          <p:cNvPr id="36" name="Text 34"/>
          <p:cNvSpPr txBox="1"/>
          <p:nvPr/>
        </p:nvSpPr>
        <p:spPr>
          <a:xfrm>
            <a:off x="7772400" y="4837176"/>
            <a:ext cx="914400" cy="914400"/>
          </a:xfrm>
          <a:prstGeom prst="rect">
            <a:avLst/>
          </a:prstGeom>
          <a:noFill/>
          <a:ln/>
        </p:spPr>
        <p:txBody>
          <a:bodyPr wrap="square" lIns="0" tIns="0" rIns="0" bIns="0" rtlCol="0" anchor="ctr"/>
          <a:lstStyle/>
          <a:p>
            <a:pPr algn="ctr" indent="0" marL="0">
              <a:buNone/>
            </a:pPr>
            <a:r>
              <a:rPr lang="en-US" sz="1100" dirty="0">
                <a:solidFill>
                  <a:srgbClr val="FFFFFF"/>
                </a:solidFill>
              </a:rPr>
              <a:t>SDG</a:t>
            </a:r>
            <a:endParaRPr lang="en-US" sz="1100" dirty="0"/>
          </a:p>
          <a:p>
            <a:pPr algn="ctr" indent="0" marL="0">
              <a:buNone/>
            </a:pPr>
            <a:r>
              <a:rPr lang="en-US" sz="2800" b="1" dirty="0">
                <a:solidFill>
                  <a:srgbClr val="FFFFFF"/>
                </a:solidFill>
              </a:rPr>
              <a:t>9</a:t>
            </a:r>
            <a:endParaRPr lang="en-US" sz="1100" dirty="0"/>
          </a:p>
        </p:txBody>
      </p:sp>
      <p:sp>
        <p:nvSpPr>
          <p:cNvPr id="37" name="Text 35"/>
          <p:cNvSpPr txBox="1"/>
          <p:nvPr/>
        </p:nvSpPr>
        <p:spPr>
          <a:xfrm>
            <a:off x="8869680" y="4791456"/>
            <a:ext cx="2633472" cy="457200"/>
          </a:xfrm>
          <a:prstGeom prst="rect">
            <a:avLst/>
          </a:prstGeom>
          <a:noFill/>
          <a:ln/>
        </p:spPr>
        <p:txBody>
          <a:bodyPr wrap="square" lIns="0" tIns="0" rIns="0" bIns="0" rtlCol="0" anchor="t"/>
          <a:lstStyle/>
          <a:p>
            <a:pPr indent="0" marL="0">
              <a:buNone/>
            </a:pPr>
            <a:r>
              <a:rPr lang="en-US" sz="1300" b="1" dirty="0">
                <a:solidFill>
                  <a:schemeClr val="tx2"/>
                </a:solidFill>
              </a:rPr>
              <a:t>Industry, Innovation and Infrastructure</a:t>
            </a:r>
            <a:endParaRPr lang="en-US" sz="1300" dirty="0"/>
          </a:p>
        </p:txBody>
      </p:sp>
      <p:sp>
        <p:nvSpPr>
          <p:cNvPr id="38" name="Text 36"/>
          <p:cNvSpPr txBox="1"/>
          <p:nvPr/>
        </p:nvSpPr>
        <p:spPr>
          <a:xfrm>
            <a:off x="8869680" y="5248656"/>
            <a:ext cx="2633472" cy="640080"/>
          </a:xfrm>
          <a:prstGeom prst="rect">
            <a:avLst/>
          </a:prstGeom>
          <a:noFill/>
          <a:ln/>
        </p:spPr>
        <p:txBody>
          <a:bodyPr wrap="square" lIns="0" tIns="0" rIns="0" bIns="0" rtlCol="0" anchor="t"/>
          <a:lstStyle/>
          <a:p>
            <a:pPr indent="0" marL="0">
              <a:buNone/>
            </a:pPr>
            <a:r>
              <a:rPr lang="en-US" sz="1200" dirty="0">
                <a:solidFill>
                  <a:schemeClr val="tx1"/>
                </a:solidFill>
              </a:rPr>
              <a:t>Target 9.5: enhance research and technological capability</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94392"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Solution approach: how FinMesh works</a:t>
            </a:r>
            <a:endParaRPr lang="en-US" sz="3200" dirty="0"/>
          </a:p>
        </p:txBody>
      </p:sp>
      <p:sp>
        <p:nvSpPr>
          <p:cNvPr id="3" name="Step 1 card"/>
          <p:cNvSpPr/>
          <p:nvPr/>
        </p:nvSpPr>
        <p:spPr>
          <a:xfrm>
            <a:off x="548640" y="1234440"/>
            <a:ext cx="1962302" cy="2514600"/>
          </a:xfrm>
          <a:prstGeom prst="roundRect">
            <a:avLst>
              <a:gd name="adj" fmla="val 5592"/>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4" name="Step 1 circle"/>
          <p:cNvSpPr/>
          <p:nvPr/>
        </p:nvSpPr>
        <p:spPr>
          <a:xfrm>
            <a:off x="1186891" y="1463040"/>
            <a:ext cx="685800" cy="685800"/>
          </a:xfrm>
          <a:prstGeom prst="ellipse">
            <a:avLst/>
          </a:prstGeom>
          <a:solidFill>
            <a:schemeClr val="accent1"/>
          </a:solidFill>
          <a:ln w="12700">
            <a:solidFill>
              <a:schemeClr val="accent1"/>
            </a:solidFill>
            <a:prstDash val="solid"/>
          </a:ln>
        </p:spPr>
      </p:sp>
      <p:pic>
        <p:nvPicPr>
          <p:cNvPr id="5" name="Step 1 icon" descr="preencoded.png">    </p:cNvPr>
          <p:cNvPicPr>
            <a:picLocks noChangeAspect="1"/>
          </p:cNvPicPr>
          <p:nvPr/>
        </p:nvPicPr>
        <p:blipFill>
          <a:blip r:embed="rId1"/>
          <a:stretch>
            <a:fillRect/>
          </a:stretch>
        </p:blipFill>
        <p:spPr>
          <a:xfrm>
            <a:off x="1351483" y="1627632"/>
            <a:ext cx="356616" cy="356616"/>
          </a:xfrm>
          <a:prstGeom prst="rect">
            <a:avLst/>
          </a:prstGeom>
        </p:spPr>
      </p:pic>
      <p:sp>
        <p:nvSpPr>
          <p:cNvPr id="6" name="Text 3"/>
          <p:cNvSpPr txBox="1"/>
          <p:nvPr/>
        </p:nvSpPr>
        <p:spPr>
          <a:xfrm>
            <a:off x="685800" y="2258568"/>
            <a:ext cx="1687982" cy="365760"/>
          </a:xfrm>
          <a:prstGeom prst="rect">
            <a:avLst/>
          </a:prstGeom>
          <a:noFill/>
          <a:ln/>
        </p:spPr>
        <p:txBody>
          <a:bodyPr wrap="square" lIns="0" tIns="0" rIns="0" bIns="0" rtlCol="0" anchor="ctr"/>
          <a:lstStyle/>
          <a:p>
            <a:pPr algn="ctr" indent="0" marL="0">
              <a:buNone/>
            </a:pPr>
            <a:r>
              <a:rPr lang="en-US" sz="1500" b="1" dirty="0">
                <a:solidFill>
                  <a:schemeClr val="tx2"/>
                </a:solidFill>
              </a:rPr>
              <a:t>1. Detect locally</a:t>
            </a:r>
            <a:endParaRPr lang="en-US" sz="1500" dirty="0"/>
          </a:p>
        </p:txBody>
      </p:sp>
      <p:sp>
        <p:nvSpPr>
          <p:cNvPr id="7" name="Text 4"/>
          <p:cNvSpPr txBox="1"/>
          <p:nvPr/>
        </p:nvSpPr>
        <p:spPr>
          <a:xfrm>
            <a:off x="731520" y="2651760"/>
            <a:ext cx="1596542" cy="1005840"/>
          </a:xfrm>
          <a:prstGeom prst="rect">
            <a:avLst/>
          </a:prstGeom>
          <a:noFill/>
          <a:ln/>
        </p:spPr>
        <p:txBody>
          <a:bodyPr wrap="square" lIns="0" tIns="0" rIns="0" bIns="0" rtlCol="0" anchor="t"/>
          <a:lstStyle/>
          <a:p>
            <a:pPr algn="ctr" indent="0" marL="0">
              <a:buNone/>
            </a:pPr>
            <a:r>
              <a:rPr lang="en-US" sz="1300" dirty="0">
                <a:solidFill>
                  <a:schemeClr val="tx1"/>
                </a:solidFill>
              </a:rPr>
              <a:t>Each bank scores its own accounts with graph features and a GBDT model</a:t>
            </a:r>
            <a:endParaRPr lang="en-US" sz="1300" dirty="0"/>
          </a:p>
        </p:txBody>
      </p:sp>
      <p:sp>
        <p:nvSpPr>
          <p:cNvPr id="8" name="Step arrow 1"/>
          <p:cNvSpPr/>
          <p:nvPr/>
        </p:nvSpPr>
        <p:spPr>
          <a:xfrm>
            <a:off x="2556662" y="2372868"/>
            <a:ext cx="228600" cy="237744"/>
          </a:xfrm>
          <a:prstGeom prst="rightArrow">
            <a:avLst/>
          </a:prstGeom>
          <a:solidFill>
            <a:schemeClr val="accent2"/>
          </a:solidFill>
          <a:ln w="12700">
            <a:solidFill>
              <a:schemeClr val="accent2"/>
            </a:solidFill>
            <a:prstDash val="solid"/>
          </a:ln>
        </p:spPr>
      </p:sp>
      <p:sp>
        <p:nvSpPr>
          <p:cNvPr id="9" name="Step 2 card"/>
          <p:cNvSpPr/>
          <p:nvPr/>
        </p:nvSpPr>
        <p:spPr>
          <a:xfrm>
            <a:off x="2830982" y="1234440"/>
            <a:ext cx="1962302" cy="2514600"/>
          </a:xfrm>
          <a:prstGeom prst="roundRect">
            <a:avLst>
              <a:gd name="adj" fmla="val 5592"/>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10" name="Step 2 circle"/>
          <p:cNvSpPr/>
          <p:nvPr/>
        </p:nvSpPr>
        <p:spPr>
          <a:xfrm>
            <a:off x="3469234" y="1463040"/>
            <a:ext cx="685800" cy="685800"/>
          </a:xfrm>
          <a:prstGeom prst="ellipse">
            <a:avLst/>
          </a:prstGeom>
          <a:solidFill>
            <a:schemeClr val="accent1"/>
          </a:solidFill>
          <a:ln w="12700">
            <a:solidFill>
              <a:schemeClr val="accent1"/>
            </a:solidFill>
            <a:prstDash val="solid"/>
          </a:ln>
        </p:spPr>
      </p:sp>
      <p:pic>
        <p:nvPicPr>
          <p:cNvPr id="11" name="Step 2 icon" descr="preencoded.png">    </p:cNvPr>
          <p:cNvPicPr>
            <a:picLocks noChangeAspect="1"/>
          </p:cNvPicPr>
          <p:nvPr/>
        </p:nvPicPr>
        <p:blipFill>
          <a:blip r:embed="rId2"/>
          <a:stretch>
            <a:fillRect/>
          </a:stretch>
        </p:blipFill>
        <p:spPr>
          <a:xfrm>
            <a:off x="3633826" y="1627632"/>
            <a:ext cx="356616" cy="356616"/>
          </a:xfrm>
          <a:prstGeom prst="rect">
            <a:avLst/>
          </a:prstGeom>
        </p:spPr>
      </p:pic>
      <p:sp>
        <p:nvSpPr>
          <p:cNvPr id="12" name="Text 8"/>
          <p:cNvSpPr txBox="1"/>
          <p:nvPr/>
        </p:nvSpPr>
        <p:spPr>
          <a:xfrm>
            <a:off x="2968142" y="2258568"/>
            <a:ext cx="1687982" cy="365760"/>
          </a:xfrm>
          <a:prstGeom prst="rect">
            <a:avLst/>
          </a:prstGeom>
          <a:noFill/>
          <a:ln/>
        </p:spPr>
        <p:txBody>
          <a:bodyPr wrap="square" lIns="0" tIns="0" rIns="0" bIns="0" rtlCol="0" anchor="ctr"/>
          <a:lstStyle/>
          <a:p>
            <a:pPr algn="ctr" indent="0" marL="0">
              <a:buNone/>
            </a:pPr>
            <a:r>
              <a:rPr lang="en-US" sz="1500" b="1" dirty="0">
                <a:solidFill>
                  <a:schemeClr val="tx2"/>
                </a:solidFill>
              </a:rPr>
              <a:t>2. Match privately</a:t>
            </a:r>
            <a:endParaRPr lang="en-US" sz="1500" dirty="0"/>
          </a:p>
        </p:txBody>
      </p:sp>
      <p:sp>
        <p:nvSpPr>
          <p:cNvPr id="13" name="Text 9"/>
          <p:cNvSpPr txBox="1"/>
          <p:nvPr/>
        </p:nvSpPr>
        <p:spPr>
          <a:xfrm>
            <a:off x="3013862" y="2651760"/>
            <a:ext cx="1596542" cy="1005840"/>
          </a:xfrm>
          <a:prstGeom prst="rect">
            <a:avLst/>
          </a:prstGeom>
          <a:noFill/>
          <a:ln/>
        </p:spPr>
        <p:txBody>
          <a:bodyPr wrap="square" lIns="0" tIns="0" rIns="0" bIns="0" rtlCol="0" anchor="t"/>
          <a:lstStyle/>
          <a:p>
            <a:pPr algn="ctr" indent="0" marL="0">
              <a:buNone/>
            </a:pPr>
            <a:r>
              <a:rPr lang="en-US" sz="1300" dirty="0">
                <a:solidFill>
                  <a:schemeClr val="tx1"/>
                </a:solidFill>
              </a:rPr>
              <a:t>A suspicious account becomes a token (OPRF), never a raw account number</a:t>
            </a:r>
            <a:endParaRPr lang="en-US" sz="1300" dirty="0"/>
          </a:p>
        </p:txBody>
      </p:sp>
      <p:sp>
        <p:nvSpPr>
          <p:cNvPr id="14" name="Step arrow 2"/>
          <p:cNvSpPr/>
          <p:nvPr/>
        </p:nvSpPr>
        <p:spPr>
          <a:xfrm>
            <a:off x="4839005" y="2372868"/>
            <a:ext cx="228600" cy="237744"/>
          </a:xfrm>
          <a:prstGeom prst="rightArrow">
            <a:avLst/>
          </a:prstGeom>
          <a:solidFill>
            <a:schemeClr val="accent2"/>
          </a:solidFill>
          <a:ln w="12700">
            <a:solidFill>
              <a:schemeClr val="accent2"/>
            </a:solidFill>
            <a:prstDash val="solid"/>
          </a:ln>
        </p:spPr>
      </p:sp>
      <p:sp>
        <p:nvSpPr>
          <p:cNvPr id="15" name="Step 3 card"/>
          <p:cNvSpPr/>
          <p:nvPr/>
        </p:nvSpPr>
        <p:spPr>
          <a:xfrm>
            <a:off x="5113325" y="1234440"/>
            <a:ext cx="1962302" cy="2514600"/>
          </a:xfrm>
          <a:prstGeom prst="roundRect">
            <a:avLst>
              <a:gd name="adj" fmla="val 5592"/>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16" name="Step 3 circle"/>
          <p:cNvSpPr/>
          <p:nvPr/>
        </p:nvSpPr>
        <p:spPr>
          <a:xfrm>
            <a:off x="5751576" y="1463040"/>
            <a:ext cx="685800" cy="685800"/>
          </a:xfrm>
          <a:prstGeom prst="ellipse">
            <a:avLst/>
          </a:prstGeom>
          <a:solidFill>
            <a:schemeClr val="accent1"/>
          </a:solidFill>
          <a:ln w="12700">
            <a:solidFill>
              <a:schemeClr val="accent1"/>
            </a:solidFill>
            <a:prstDash val="solid"/>
          </a:ln>
        </p:spPr>
      </p:sp>
      <p:pic>
        <p:nvPicPr>
          <p:cNvPr id="17" name="Step 3 icon" descr="preencoded.png">    </p:cNvPr>
          <p:cNvPicPr>
            <a:picLocks noChangeAspect="1"/>
          </p:cNvPicPr>
          <p:nvPr/>
        </p:nvPicPr>
        <p:blipFill>
          <a:blip r:embed="rId3"/>
          <a:stretch>
            <a:fillRect/>
          </a:stretch>
        </p:blipFill>
        <p:spPr>
          <a:xfrm>
            <a:off x="5916168" y="1627632"/>
            <a:ext cx="356616" cy="356616"/>
          </a:xfrm>
          <a:prstGeom prst="rect">
            <a:avLst/>
          </a:prstGeom>
        </p:spPr>
      </p:pic>
      <p:sp>
        <p:nvSpPr>
          <p:cNvPr id="18" name="Text 13"/>
          <p:cNvSpPr txBox="1"/>
          <p:nvPr/>
        </p:nvSpPr>
        <p:spPr>
          <a:xfrm>
            <a:off x="5250485" y="2258568"/>
            <a:ext cx="1687982" cy="365760"/>
          </a:xfrm>
          <a:prstGeom prst="rect">
            <a:avLst/>
          </a:prstGeom>
          <a:noFill/>
          <a:ln/>
        </p:spPr>
        <p:txBody>
          <a:bodyPr wrap="square" lIns="0" tIns="0" rIns="0" bIns="0" rtlCol="0" anchor="ctr"/>
          <a:lstStyle/>
          <a:p>
            <a:pPr algn="ctr" indent="0" marL="0">
              <a:buNone/>
            </a:pPr>
            <a:r>
              <a:rPr lang="en-US" sz="1500" b="1" dirty="0">
                <a:solidFill>
                  <a:schemeClr val="tx2"/>
                </a:solidFill>
              </a:rPr>
              <a:t>3. Share evidence</a:t>
            </a:r>
            <a:endParaRPr lang="en-US" sz="1500" dirty="0"/>
          </a:p>
        </p:txBody>
      </p:sp>
      <p:sp>
        <p:nvSpPr>
          <p:cNvPr id="19" name="Text 14"/>
          <p:cNvSpPr txBox="1"/>
          <p:nvPr/>
        </p:nvSpPr>
        <p:spPr>
          <a:xfrm>
            <a:off x="5296205" y="2651760"/>
            <a:ext cx="1596542" cy="1005840"/>
          </a:xfrm>
          <a:prstGeom prst="rect">
            <a:avLst/>
          </a:prstGeom>
          <a:noFill/>
          <a:ln/>
        </p:spPr>
        <p:txBody>
          <a:bodyPr wrap="square" lIns="0" tIns="0" rIns="0" bIns="0" rtlCol="0" anchor="t"/>
          <a:lstStyle/>
          <a:p>
            <a:pPr algn="ctr" indent="0" marL="0">
              <a:buNone/>
            </a:pPr>
            <a:r>
              <a:rPr lang="en-US" sz="1300" dirty="0">
                <a:solidFill>
                  <a:schemeClr val="tx1"/>
                </a:solidFill>
              </a:rPr>
              <a:t>Peer banks answer at a chosen sharing level, under a query budget</a:t>
            </a:r>
            <a:endParaRPr lang="en-US" sz="1300" dirty="0"/>
          </a:p>
        </p:txBody>
      </p:sp>
      <p:sp>
        <p:nvSpPr>
          <p:cNvPr id="20" name="Step arrow 3"/>
          <p:cNvSpPr/>
          <p:nvPr/>
        </p:nvSpPr>
        <p:spPr>
          <a:xfrm>
            <a:off x="7121347" y="2372868"/>
            <a:ext cx="228600" cy="237744"/>
          </a:xfrm>
          <a:prstGeom prst="rightArrow">
            <a:avLst/>
          </a:prstGeom>
          <a:solidFill>
            <a:schemeClr val="accent2"/>
          </a:solidFill>
          <a:ln w="12700">
            <a:solidFill>
              <a:schemeClr val="accent2"/>
            </a:solidFill>
            <a:prstDash val="solid"/>
          </a:ln>
        </p:spPr>
      </p:sp>
      <p:sp>
        <p:nvSpPr>
          <p:cNvPr id="21" name="Step 4 card"/>
          <p:cNvSpPr/>
          <p:nvPr/>
        </p:nvSpPr>
        <p:spPr>
          <a:xfrm>
            <a:off x="7395667" y="1234440"/>
            <a:ext cx="1962302" cy="2514600"/>
          </a:xfrm>
          <a:prstGeom prst="roundRect">
            <a:avLst>
              <a:gd name="adj" fmla="val 5592"/>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22" name="Step 4 circle"/>
          <p:cNvSpPr/>
          <p:nvPr/>
        </p:nvSpPr>
        <p:spPr>
          <a:xfrm>
            <a:off x="8033918" y="1463040"/>
            <a:ext cx="685800" cy="685800"/>
          </a:xfrm>
          <a:prstGeom prst="ellipse">
            <a:avLst/>
          </a:prstGeom>
          <a:solidFill>
            <a:schemeClr val="accent1"/>
          </a:solidFill>
          <a:ln w="12700">
            <a:solidFill>
              <a:schemeClr val="accent1"/>
            </a:solidFill>
            <a:prstDash val="solid"/>
          </a:ln>
        </p:spPr>
      </p:sp>
      <p:pic>
        <p:nvPicPr>
          <p:cNvPr id="23" name="Step 4 icon" descr="preencoded.png">    </p:cNvPr>
          <p:cNvPicPr>
            <a:picLocks noChangeAspect="1"/>
          </p:cNvPicPr>
          <p:nvPr/>
        </p:nvPicPr>
        <p:blipFill>
          <a:blip r:embed="rId4"/>
          <a:stretch>
            <a:fillRect/>
          </a:stretch>
        </p:blipFill>
        <p:spPr>
          <a:xfrm>
            <a:off x="8198510" y="1627632"/>
            <a:ext cx="356616" cy="356616"/>
          </a:xfrm>
          <a:prstGeom prst="rect">
            <a:avLst/>
          </a:prstGeom>
        </p:spPr>
      </p:pic>
      <p:sp>
        <p:nvSpPr>
          <p:cNvPr id="24" name="Text 18"/>
          <p:cNvSpPr txBox="1"/>
          <p:nvPr/>
        </p:nvSpPr>
        <p:spPr>
          <a:xfrm>
            <a:off x="7532827" y="2258568"/>
            <a:ext cx="1687982" cy="365760"/>
          </a:xfrm>
          <a:prstGeom prst="rect">
            <a:avLst/>
          </a:prstGeom>
          <a:noFill/>
          <a:ln/>
        </p:spPr>
        <p:txBody>
          <a:bodyPr wrap="square" lIns="0" tIns="0" rIns="0" bIns="0" rtlCol="0" anchor="ctr"/>
          <a:lstStyle/>
          <a:p>
            <a:pPr algn="ctr" indent="0" marL="0">
              <a:buNone/>
            </a:pPr>
            <a:r>
              <a:rPr lang="en-US" sz="1500" b="1" dirty="0">
                <a:solidFill>
                  <a:schemeClr val="tx2"/>
                </a:solidFill>
              </a:rPr>
              <a:t>4. Fuse and link</a:t>
            </a:r>
            <a:endParaRPr lang="en-US" sz="1500" dirty="0"/>
          </a:p>
        </p:txBody>
      </p:sp>
      <p:sp>
        <p:nvSpPr>
          <p:cNvPr id="25" name="Text 19"/>
          <p:cNvSpPr txBox="1"/>
          <p:nvPr/>
        </p:nvSpPr>
        <p:spPr>
          <a:xfrm>
            <a:off x="7578547" y="2651760"/>
            <a:ext cx="1596542" cy="1005840"/>
          </a:xfrm>
          <a:prstGeom prst="rect">
            <a:avLst/>
          </a:prstGeom>
          <a:noFill/>
          <a:ln/>
        </p:spPr>
        <p:txBody>
          <a:bodyPr wrap="square" lIns="0" tIns="0" rIns="0" bIns="0" rtlCol="0" anchor="t"/>
          <a:lstStyle/>
          <a:p>
            <a:pPr algn="ctr" indent="0" marL="0">
              <a:buNone/>
            </a:pPr>
            <a:r>
              <a:rPr lang="en-US" sz="1300" dirty="0">
                <a:solidFill>
                  <a:schemeClr val="tx1"/>
                </a:solidFill>
              </a:rPr>
              <a:t>Evidence is combined and linked into cross-bank cases for analysts</a:t>
            </a:r>
            <a:endParaRPr lang="en-US" sz="1300" dirty="0"/>
          </a:p>
        </p:txBody>
      </p:sp>
      <p:sp>
        <p:nvSpPr>
          <p:cNvPr id="26" name="Step arrow 4"/>
          <p:cNvSpPr/>
          <p:nvPr/>
        </p:nvSpPr>
        <p:spPr>
          <a:xfrm>
            <a:off x="9403690" y="2372868"/>
            <a:ext cx="228600" cy="237744"/>
          </a:xfrm>
          <a:prstGeom prst="rightArrow">
            <a:avLst/>
          </a:prstGeom>
          <a:solidFill>
            <a:schemeClr val="accent2"/>
          </a:solidFill>
          <a:ln w="12700">
            <a:solidFill>
              <a:schemeClr val="accent2"/>
            </a:solidFill>
            <a:prstDash val="solid"/>
          </a:ln>
        </p:spPr>
      </p:sp>
      <p:sp>
        <p:nvSpPr>
          <p:cNvPr id="27" name="Step 5 card"/>
          <p:cNvSpPr/>
          <p:nvPr/>
        </p:nvSpPr>
        <p:spPr>
          <a:xfrm>
            <a:off x="9678010" y="1234440"/>
            <a:ext cx="1962302" cy="2514600"/>
          </a:xfrm>
          <a:prstGeom prst="roundRect">
            <a:avLst>
              <a:gd name="adj" fmla="val 5592"/>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28" name="Step 5 circle"/>
          <p:cNvSpPr/>
          <p:nvPr/>
        </p:nvSpPr>
        <p:spPr>
          <a:xfrm>
            <a:off x="10316261" y="1463040"/>
            <a:ext cx="685800" cy="685800"/>
          </a:xfrm>
          <a:prstGeom prst="ellipse">
            <a:avLst/>
          </a:prstGeom>
          <a:solidFill>
            <a:schemeClr val="accent3"/>
          </a:solidFill>
          <a:ln w="12700">
            <a:solidFill>
              <a:schemeClr val="accent3"/>
            </a:solidFill>
            <a:prstDash val="solid"/>
          </a:ln>
        </p:spPr>
      </p:sp>
      <p:pic>
        <p:nvPicPr>
          <p:cNvPr id="29" name="Step 5 icon" descr="preencoded.png">    </p:cNvPr>
          <p:cNvPicPr>
            <a:picLocks noChangeAspect="1"/>
          </p:cNvPicPr>
          <p:nvPr/>
        </p:nvPicPr>
        <p:blipFill>
          <a:blip r:embed="rId5"/>
          <a:stretch>
            <a:fillRect/>
          </a:stretch>
        </p:blipFill>
        <p:spPr>
          <a:xfrm>
            <a:off x="10480853" y="1627632"/>
            <a:ext cx="356616" cy="356616"/>
          </a:xfrm>
          <a:prstGeom prst="rect">
            <a:avLst/>
          </a:prstGeom>
        </p:spPr>
      </p:pic>
      <p:sp>
        <p:nvSpPr>
          <p:cNvPr id="30" name="Text 23"/>
          <p:cNvSpPr txBox="1"/>
          <p:nvPr/>
        </p:nvSpPr>
        <p:spPr>
          <a:xfrm>
            <a:off x="9815170" y="2258568"/>
            <a:ext cx="1687982" cy="365760"/>
          </a:xfrm>
          <a:prstGeom prst="rect">
            <a:avLst/>
          </a:prstGeom>
          <a:noFill/>
          <a:ln/>
        </p:spPr>
        <p:txBody>
          <a:bodyPr wrap="square" lIns="0" tIns="0" rIns="0" bIns="0" rtlCol="0" anchor="ctr"/>
          <a:lstStyle/>
          <a:p>
            <a:pPr algn="ctr" indent="0" marL="0">
              <a:buNone/>
            </a:pPr>
            <a:r>
              <a:rPr lang="en-US" sz="1500" b="1" dirty="0">
                <a:solidFill>
                  <a:schemeClr val="tx2"/>
                </a:solidFill>
              </a:rPr>
              <a:t>5. Test leakage</a:t>
            </a:r>
            <a:endParaRPr lang="en-US" sz="1500" dirty="0"/>
          </a:p>
        </p:txBody>
      </p:sp>
      <p:sp>
        <p:nvSpPr>
          <p:cNvPr id="31" name="Text 24"/>
          <p:cNvSpPr txBox="1"/>
          <p:nvPr/>
        </p:nvSpPr>
        <p:spPr>
          <a:xfrm>
            <a:off x="9860890" y="2651760"/>
            <a:ext cx="1596542" cy="1005840"/>
          </a:xfrm>
          <a:prstGeom prst="rect">
            <a:avLst/>
          </a:prstGeom>
          <a:noFill/>
          <a:ln/>
        </p:spPr>
        <p:txBody>
          <a:bodyPr wrap="square" lIns="0" tIns="0" rIns="0" bIns="0" rtlCol="0" anchor="t"/>
          <a:lstStyle/>
          <a:p>
            <a:pPr algn="ctr" indent="0" marL="0">
              <a:buNone/>
            </a:pPr>
            <a:r>
              <a:rPr lang="en-US" sz="1300" dirty="0">
                <a:solidFill>
                  <a:schemeClr val="tx1"/>
                </a:solidFill>
              </a:rPr>
              <a:t>A curious peer attacks every level to measure what leaked</a:t>
            </a:r>
            <a:endParaRPr lang="en-US" sz="1300" dirty="0"/>
          </a:p>
        </p:txBody>
      </p:sp>
      <p:sp>
        <p:nvSpPr>
          <p:cNvPr id="32" name="Text 25"/>
          <p:cNvSpPr txBox="1"/>
          <p:nvPr/>
        </p:nvSpPr>
        <p:spPr>
          <a:xfrm>
            <a:off x="548640" y="3977640"/>
            <a:ext cx="7315200" cy="365760"/>
          </a:xfrm>
          <a:prstGeom prst="rect">
            <a:avLst/>
          </a:prstGeom>
          <a:noFill/>
          <a:ln/>
        </p:spPr>
        <p:txBody>
          <a:bodyPr wrap="square" lIns="0" tIns="0" rIns="0" bIns="0" rtlCol="0" anchor="ctr"/>
          <a:lstStyle/>
          <a:p>
            <a:pPr indent="0" marL="0">
              <a:buNone/>
            </a:pPr>
            <a:r>
              <a:rPr lang="en-US" sz="1800" b="1" dirty="0">
                <a:solidFill>
                  <a:schemeClr val="tx2"/>
                </a:solidFill>
              </a:rPr>
              <a:t>The sharing ladder — what one bank tells another</a:t>
            </a:r>
            <a:endParaRPr lang="en-US" sz="1800" dirty="0"/>
          </a:p>
        </p:txBody>
      </p:sp>
      <p:sp>
        <p:nvSpPr>
          <p:cNvPr id="33" name="Level S0"/>
          <p:cNvSpPr/>
          <p:nvPr/>
        </p:nvSpPr>
        <p:spPr>
          <a:xfrm>
            <a:off x="548640" y="4434840"/>
            <a:ext cx="1696212" cy="1417320"/>
          </a:xfrm>
          <a:prstGeom prst="roundRect">
            <a:avLst>
              <a:gd name="adj" fmla="val 6452"/>
            </a:avLst>
          </a:prstGeom>
          <a:solidFill>
            <a:srgbClr val="D6ECEA"/>
          </a:solidFill>
          <a:ln w="12700">
            <a:solidFill>
              <a:srgbClr val="D6ECEA"/>
            </a:solidFill>
            <a:prstDash val="solid"/>
          </a:ln>
        </p:spPr>
      </p:sp>
      <p:sp>
        <p:nvSpPr>
          <p:cNvPr id="34" name="Text 27"/>
          <p:cNvSpPr txBox="1"/>
          <p:nvPr/>
        </p:nvSpPr>
        <p:spPr>
          <a:xfrm>
            <a:off x="685800" y="4544568"/>
            <a:ext cx="1421892" cy="365760"/>
          </a:xfrm>
          <a:prstGeom prst="rect">
            <a:avLst/>
          </a:prstGeom>
          <a:noFill/>
          <a:ln/>
        </p:spPr>
        <p:txBody>
          <a:bodyPr wrap="square" lIns="0" tIns="0" rIns="0" bIns="0" rtlCol="0" anchor="ctr"/>
          <a:lstStyle/>
          <a:p>
            <a:pPr indent="0" marL="0">
              <a:buNone/>
            </a:pPr>
            <a:r>
              <a:rPr lang="en-US" sz="2000" b="1" dirty="0">
                <a:solidFill>
                  <a:schemeClr val="tx2"/>
                </a:solidFill>
              </a:rPr>
              <a:t>S0</a:t>
            </a:r>
            <a:endParaRPr lang="en-US" sz="2000" dirty="0"/>
          </a:p>
        </p:txBody>
      </p:sp>
      <p:sp>
        <p:nvSpPr>
          <p:cNvPr id="35" name="Text 28"/>
          <p:cNvSpPr txBox="1"/>
          <p:nvPr/>
        </p:nvSpPr>
        <p:spPr>
          <a:xfrm>
            <a:off x="685800" y="4937760"/>
            <a:ext cx="1421892" cy="320040"/>
          </a:xfrm>
          <a:prstGeom prst="rect">
            <a:avLst/>
          </a:prstGeom>
          <a:noFill/>
          <a:ln/>
        </p:spPr>
        <p:txBody>
          <a:bodyPr wrap="square" lIns="0" tIns="0" rIns="0" bIns="0" rtlCol="0" anchor="ctr"/>
          <a:lstStyle/>
          <a:p>
            <a:pPr indent="0" marL="0">
              <a:buNone/>
            </a:pPr>
            <a:r>
              <a:rPr lang="en-US" sz="1400" b="1" dirty="0">
                <a:solidFill>
                  <a:schemeClr val="tx1"/>
                </a:solidFill>
              </a:rPr>
              <a:t>Nothing</a:t>
            </a:r>
            <a:endParaRPr lang="en-US" sz="1400" dirty="0"/>
          </a:p>
        </p:txBody>
      </p:sp>
      <p:sp>
        <p:nvSpPr>
          <p:cNvPr id="36" name="Text 29"/>
          <p:cNvSpPr txBox="1"/>
          <p:nvPr/>
        </p:nvSpPr>
        <p:spPr>
          <a:xfrm>
            <a:off x="685800" y="5257800"/>
            <a:ext cx="1421892" cy="548640"/>
          </a:xfrm>
          <a:prstGeom prst="rect">
            <a:avLst/>
          </a:prstGeom>
          <a:noFill/>
          <a:ln/>
        </p:spPr>
        <p:txBody>
          <a:bodyPr wrap="square" lIns="0" tIns="0" rIns="0" bIns="0" rtlCol="0" anchor="t"/>
          <a:lstStyle/>
          <a:p>
            <a:pPr indent="0" marL="0">
              <a:buNone/>
            </a:pPr>
            <a:r>
              <a:rPr lang="en-US" sz="1200" dirty="0">
                <a:solidFill>
                  <a:schemeClr val="tx1"/>
                </a:solidFill>
              </a:rPr>
              <a:t>each bank alone</a:t>
            </a:r>
            <a:endParaRPr lang="en-US" sz="1200" dirty="0"/>
          </a:p>
        </p:txBody>
      </p:sp>
      <p:sp>
        <p:nvSpPr>
          <p:cNvPr id="37" name="Level S1"/>
          <p:cNvSpPr/>
          <p:nvPr/>
        </p:nvSpPr>
        <p:spPr>
          <a:xfrm>
            <a:off x="2427732" y="4434840"/>
            <a:ext cx="1696212" cy="1417320"/>
          </a:xfrm>
          <a:prstGeom prst="roundRect">
            <a:avLst>
              <a:gd name="adj" fmla="val 6452"/>
            </a:avLst>
          </a:prstGeom>
          <a:solidFill>
            <a:srgbClr val="BFE0DD"/>
          </a:solidFill>
          <a:ln w="12700">
            <a:solidFill>
              <a:srgbClr val="BFE0DD"/>
            </a:solidFill>
            <a:prstDash val="solid"/>
          </a:ln>
        </p:spPr>
      </p:sp>
      <p:sp>
        <p:nvSpPr>
          <p:cNvPr id="38" name="Text 31"/>
          <p:cNvSpPr txBox="1"/>
          <p:nvPr/>
        </p:nvSpPr>
        <p:spPr>
          <a:xfrm>
            <a:off x="2564892" y="4544568"/>
            <a:ext cx="1421892" cy="365760"/>
          </a:xfrm>
          <a:prstGeom prst="rect">
            <a:avLst/>
          </a:prstGeom>
          <a:noFill/>
          <a:ln/>
        </p:spPr>
        <p:txBody>
          <a:bodyPr wrap="square" lIns="0" tIns="0" rIns="0" bIns="0" rtlCol="0" anchor="ctr"/>
          <a:lstStyle/>
          <a:p>
            <a:pPr indent="0" marL="0">
              <a:buNone/>
            </a:pPr>
            <a:r>
              <a:rPr lang="en-US" sz="2000" b="1" dirty="0">
                <a:solidFill>
                  <a:schemeClr val="tx2"/>
                </a:solidFill>
              </a:rPr>
              <a:t>S1</a:t>
            </a:r>
            <a:endParaRPr lang="en-US" sz="2000" dirty="0"/>
          </a:p>
        </p:txBody>
      </p:sp>
      <p:sp>
        <p:nvSpPr>
          <p:cNvPr id="39" name="Text 32"/>
          <p:cNvSpPr txBox="1"/>
          <p:nvPr/>
        </p:nvSpPr>
        <p:spPr>
          <a:xfrm>
            <a:off x="2564892" y="4937760"/>
            <a:ext cx="1421892" cy="320040"/>
          </a:xfrm>
          <a:prstGeom prst="rect">
            <a:avLst/>
          </a:prstGeom>
          <a:noFill/>
          <a:ln/>
        </p:spPr>
        <p:txBody>
          <a:bodyPr wrap="square" lIns="0" tIns="0" rIns="0" bIns="0" rtlCol="0" anchor="ctr"/>
          <a:lstStyle/>
          <a:p>
            <a:pPr indent="0" marL="0">
              <a:buNone/>
            </a:pPr>
            <a:r>
              <a:rPr lang="en-US" sz="1400" b="1" dirty="0">
                <a:solidFill>
                  <a:schemeClr val="tx1"/>
                </a:solidFill>
              </a:rPr>
              <a:t>Alert flag</a:t>
            </a:r>
            <a:endParaRPr lang="en-US" sz="1400" dirty="0"/>
          </a:p>
        </p:txBody>
      </p:sp>
      <p:sp>
        <p:nvSpPr>
          <p:cNvPr id="40" name="Text 33"/>
          <p:cNvSpPr txBox="1"/>
          <p:nvPr/>
        </p:nvSpPr>
        <p:spPr>
          <a:xfrm>
            <a:off x="2564892" y="5257800"/>
            <a:ext cx="1421892" cy="548640"/>
          </a:xfrm>
          <a:prstGeom prst="rect">
            <a:avLst/>
          </a:prstGeom>
          <a:noFill/>
          <a:ln/>
        </p:spPr>
        <p:txBody>
          <a:bodyPr wrap="square" lIns="0" tIns="0" rIns="0" bIns="0" rtlCol="0" anchor="t"/>
          <a:lstStyle/>
          <a:p>
            <a:pPr indent="0" marL="0">
              <a:buNone/>
            </a:pPr>
            <a:r>
              <a:rPr lang="en-US" sz="1200" dirty="0">
                <a:solidFill>
                  <a:schemeClr val="tx1"/>
                </a:solidFill>
              </a:rPr>
              <a:t>“we also flagged this account”</a:t>
            </a:r>
            <a:endParaRPr lang="en-US" sz="1200" dirty="0"/>
          </a:p>
        </p:txBody>
      </p:sp>
      <p:sp>
        <p:nvSpPr>
          <p:cNvPr id="41" name="Level S2"/>
          <p:cNvSpPr/>
          <p:nvPr/>
        </p:nvSpPr>
        <p:spPr>
          <a:xfrm>
            <a:off x="4306824" y="4434840"/>
            <a:ext cx="1696212" cy="1417320"/>
          </a:xfrm>
          <a:prstGeom prst="roundRect">
            <a:avLst>
              <a:gd name="adj" fmla="val 6452"/>
            </a:avLst>
          </a:prstGeom>
          <a:solidFill>
            <a:srgbClr val="A7D4CF"/>
          </a:solidFill>
          <a:ln w="12700">
            <a:solidFill>
              <a:srgbClr val="A7D4CF"/>
            </a:solidFill>
            <a:prstDash val="solid"/>
          </a:ln>
        </p:spPr>
      </p:sp>
      <p:sp>
        <p:nvSpPr>
          <p:cNvPr id="42" name="Text 35"/>
          <p:cNvSpPr txBox="1"/>
          <p:nvPr/>
        </p:nvSpPr>
        <p:spPr>
          <a:xfrm>
            <a:off x="4443984" y="4544568"/>
            <a:ext cx="1421892" cy="365760"/>
          </a:xfrm>
          <a:prstGeom prst="rect">
            <a:avLst/>
          </a:prstGeom>
          <a:noFill/>
          <a:ln/>
        </p:spPr>
        <p:txBody>
          <a:bodyPr wrap="square" lIns="0" tIns="0" rIns="0" bIns="0" rtlCol="0" anchor="ctr"/>
          <a:lstStyle/>
          <a:p>
            <a:pPr indent="0" marL="0">
              <a:buNone/>
            </a:pPr>
            <a:r>
              <a:rPr lang="en-US" sz="2000" b="1" dirty="0">
                <a:solidFill>
                  <a:schemeClr val="tx2"/>
                </a:solidFill>
              </a:rPr>
              <a:t>S2</a:t>
            </a:r>
            <a:endParaRPr lang="en-US" sz="2000" dirty="0"/>
          </a:p>
        </p:txBody>
      </p:sp>
      <p:sp>
        <p:nvSpPr>
          <p:cNvPr id="43" name="Text 36"/>
          <p:cNvSpPr txBox="1"/>
          <p:nvPr/>
        </p:nvSpPr>
        <p:spPr>
          <a:xfrm>
            <a:off x="4443984" y="4937760"/>
            <a:ext cx="1421892" cy="320040"/>
          </a:xfrm>
          <a:prstGeom prst="rect">
            <a:avLst/>
          </a:prstGeom>
          <a:noFill/>
          <a:ln/>
        </p:spPr>
        <p:txBody>
          <a:bodyPr wrap="square" lIns="0" tIns="0" rIns="0" bIns="0" rtlCol="0" anchor="ctr"/>
          <a:lstStyle/>
          <a:p>
            <a:pPr indent="0" marL="0">
              <a:buNone/>
            </a:pPr>
            <a:r>
              <a:rPr lang="en-US" sz="1400" b="1" dirty="0">
                <a:solidFill>
                  <a:schemeClr val="tx1"/>
                </a:solidFill>
              </a:rPr>
              <a:t>Minimal record</a:t>
            </a:r>
            <a:endParaRPr lang="en-US" sz="1400" dirty="0"/>
          </a:p>
        </p:txBody>
      </p:sp>
      <p:sp>
        <p:nvSpPr>
          <p:cNvPr id="44" name="Text 37"/>
          <p:cNvSpPr txBox="1"/>
          <p:nvPr/>
        </p:nvSpPr>
        <p:spPr>
          <a:xfrm>
            <a:off x="4443984" y="5257800"/>
            <a:ext cx="1421892" cy="548640"/>
          </a:xfrm>
          <a:prstGeom prst="rect">
            <a:avLst/>
          </a:prstGeom>
          <a:noFill/>
          <a:ln/>
        </p:spPr>
        <p:txBody>
          <a:bodyPr wrap="square" lIns="0" tIns="0" rIns="0" bIns="0" rtlCol="0" anchor="t"/>
          <a:lstStyle/>
          <a:p>
            <a:pPr indent="0" marL="0">
              <a:buNone/>
            </a:pPr>
            <a:r>
              <a:rPr lang="en-US" sz="1200" dirty="0">
                <a:solidFill>
                  <a:schemeClr val="tx1"/>
                </a:solidFill>
              </a:rPr>
              <a:t>bucketed amounts, counts</a:t>
            </a:r>
            <a:endParaRPr lang="en-US" sz="1200" dirty="0"/>
          </a:p>
        </p:txBody>
      </p:sp>
      <p:sp>
        <p:nvSpPr>
          <p:cNvPr id="45" name="Level S3"/>
          <p:cNvSpPr/>
          <p:nvPr/>
        </p:nvSpPr>
        <p:spPr>
          <a:xfrm>
            <a:off x="6185916" y="4434840"/>
            <a:ext cx="1696212" cy="1417320"/>
          </a:xfrm>
          <a:prstGeom prst="roundRect">
            <a:avLst>
              <a:gd name="adj" fmla="val 6452"/>
            </a:avLst>
          </a:prstGeom>
          <a:solidFill>
            <a:srgbClr val="8EC7C1"/>
          </a:solidFill>
          <a:ln w="12700">
            <a:solidFill>
              <a:srgbClr val="8EC7C1"/>
            </a:solidFill>
            <a:prstDash val="solid"/>
          </a:ln>
        </p:spPr>
      </p:sp>
      <p:sp>
        <p:nvSpPr>
          <p:cNvPr id="46" name="Text 39"/>
          <p:cNvSpPr txBox="1"/>
          <p:nvPr/>
        </p:nvSpPr>
        <p:spPr>
          <a:xfrm>
            <a:off x="6323076" y="4544568"/>
            <a:ext cx="1421892" cy="365760"/>
          </a:xfrm>
          <a:prstGeom prst="rect">
            <a:avLst/>
          </a:prstGeom>
          <a:noFill/>
          <a:ln/>
        </p:spPr>
        <p:txBody>
          <a:bodyPr wrap="square" lIns="0" tIns="0" rIns="0" bIns="0" rtlCol="0" anchor="ctr"/>
          <a:lstStyle/>
          <a:p>
            <a:pPr indent="0" marL="0">
              <a:buNone/>
            </a:pPr>
            <a:r>
              <a:rPr lang="en-US" sz="2000" b="1" dirty="0">
                <a:solidFill>
                  <a:schemeClr val="tx2"/>
                </a:solidFill>
              </a:rPr>
              <a:t>S3</a:t>
            </a:r>
            <a:endParaRPr lang="en-US" sz="2000" dirty="0"/>
          </a:p>
        </p:txBody>
      </p:sp>
      <p:sp>
        <p:nvSpPr>
          <p:cNvPr id="47" name="Text 40"/>
          <p:cNvSpPr txBox="1"/>
          <p:nvPr/>
        </p:nvSpPr>
        <p:spPr>
          <a:xfrm>
            <a:off x="6323076" y="4937760"/>
            <a:ext cx="1421892" cy="320040"/>
          </a:xfrm>
          <a:prstGeom prst="rect">
            <a:avLst/>
          </a:prstGeom>
          <a:noFill/>
          <a:ln/>
        </p:spPr>
        <p:txBody>
          <a:bodyPr wrap="square" lIns="0" tIns="0" rIns="0" bIns="0" rtlCol="0" anchor="ctr"/>
          <a:lstStyle/>
          <a:p>
            <a:pPr indent="0" marL="0">
              <a:buNone/>
            </a:pPr>
            <a:r>
              <a:rPr lang="en-US" sz="1400" b="1" dirty="0">
                <a:solidFill>
                  <a:schemeClr val="tx1"/>
                </a:solidFill>
              </a:rPr>
              <a:t>Noisy record</a:t>
            </a:r>
            <a:endParaRPr lang="en-US" sz="1400" dirty="0"/>
          </a:p>
        </p:txBody>
      </p:sp>
      <p:sp>
        <p:nvSpPr>
          <p:cNvPr id="48" name="Text 41"/>
          <p:cNvSpPr txBox="1"/>
          <p:nvPr/>
        </p:nvSpPr>
        <p:spPr>
          <a:xfrm>
            <a:off x="6323076" y="5257800"/>
            <a:ext cx="1421892" cy="548640"/>
          </a:xfrm>
          <a:prstGeom prst="rect">
            <a:avLst/>
          </a:prstGeom>
          <a:noFill/>
          <a:ln/>
        </p:spPr>
        <p:txBody>
          <a:bodyPr wrap="square" lIns="0" tIns="0" rIns="0" bIns="0" rtlCol="0" anchor="t"/>
          <a:lstStyle/>
          <a:p>
            <a:pPr indent="0" marL="0">
              <a:buNone/>
            </a:pPr>
            <a:r>
              <a:rPr lang="en-US" sz="1200" dirty="0">
                <a:solidFill>
                  <a:schemeClr val="tx1"/>
                </a:solidFill>
              </a:rPr>
              <a:t>record with local differential privacy</a:t>
            </a:r>
            <a:endParaRPr lang="en-US" sz="1200" dirty="0"/>
          </a:p>
        </p:txBody>
      </p:sp>
      <p:sp>
        <p:nvSpPr>
          <p:cNvPr id="49" name="Level S4"/>
          <p:cNvSpPr/>
          <p:nvPr/>
        </p:nvSpPr>
        <p:spPr>
          <a:xfrm>
            <a:off x="8065008" y="4434840"/>
            <a:ext cx="1696212" cy="1417320"/>
          </a:xfrm>
          <a:prstGeom prst="roundRect">
            <a:avLst>
              <a:gd name="adj" fmla="val 6452"/>
            </a:avLst>
          </a:prstGeom>
          <a:solidFill>
            <a:srgbClr val="75BAB3"/>
          </a:solidFill>
          <a:ln w="12700">
            <a:solidFill>
              <a:srgbClr val="75BAB3"/>
            </a:solidFill>
            <a:prstDash val="solid"/>
          </a:ln>
        </p:spPr>
      </p:sp>
      <p:sp>
        <p:nvSpPr>
          <p:cNvPr id="50" name="Text 43"/>
          <p:cNvSpPr txBox="1"/>
          <p:nvPr/>
        </p:nvSpPr>
        <p:spPr>
          <a:xfrm>
            <a:off x="8202168" y="4544568"/>
            <a:ext cx="1421892" cy="365760"/>
          </a:xfrm>
          <a:prstGeom prst="rect">
            <a:avLst/>
          </a:prstGeom>
          <a:noFill/>
          <a:ln/>
        </p:spPr>
        <p:txBody>
          <a:bodyPr wrap="square" lIns="0" tIns="0" rIns="0" bIns="0" rtlCol="0" anchor="ctr"/>
          <a:lstStyle/>
          <a:p>
            <a:pPr indent="0" marL="0">
              <a:buNone/>
            </a:pPr>
            <a:r>
              <a:rPr lang="en-US" sz="2000" b="1" dirty="0">
                <a:solidFill>
                  <a:schemeClr val="tx2"/>
                </a:solidFill>
              </a:rPr>
              <a:t>S4</a:t>
            </a:r>
            <a:endParaRPr lang="en-US" sz="2000" dirty="0"/>
          </a:p>
        </p:txBody>
      </p:sp>
      <p:sp>
        <p:nvSpPr>
          <p:cNvPr id="51" name="Text 44"/>
          <p:cNvSpPr txBox="1"/>
          <p:nvPr/>
        </p:nvSpPr>
        <p:spPr>
          <a:xfrm>
            <a:off x="8202168" y="4937760"/>
            <a:ext cx="1421892" cy="320040"/>
          </a:xfrm>
          <a:prstGeom prst="rect">
            <a:avLst/>
          </a:prstGeom>
          <a:noFill/>
          <a:ln/>
        </p:spPr>
        <p:txBody>
          <a:bodyPr wrap="square" lIns="0" tIns="0" rIns="0" bIns="0" rtlCol="0" anchor="ctr"/>
          <a:lstStyle/>
          <a:p>
            <a:pPr indent="0" marL="0">
              <a:buNone/>
            </a:pPr>
            <a:r>
              <a:rPr lang="en-US" sz="1400" b="1" dirty="0">
                <a:solidFill>
                  <a:schemeClr val="tx1"/>
                </a:solidFill>
              </a:rPr>
              <a:t>Embeddings</a:t>
            </a:r>
            <a:endParaRPr lang="en-US" sz="1400" dirty="0"/>
          </a:p>
        </p:txBody>
      </p:sp>
      <p:sp>
        <p:nvSpPr>
          <p:cNvPr id="52" name="Text 45"/>
          <p:cNvSpPr txBox="1"/>
          <p:nvPr/>
        </p:nvSpPr>
        <p:spPr>
          <a:xfrm>
            <a:off x="8202168" y="5257800"/>
            <a:ext cx="1421892" cy="548640"/>
          </a:xfrm>
          <a:prstGeom prst="rect">
            <a:avLst/>
          </a:prstGeom>
          <a:noFill/>
          <a:ln/>
        </p:spPr>
        <p:txBody>
          <a:bodyPr wrap="square" lIns="0" tIns="0" rIns="0" bIns="0" rtlCol="0" anchor="t"/>
          <a:lstStyle/>
          <a:p>
            <a:pPr indent="0" marL="0">
              <a:buNone/>
            </a:pPr>
            <a:r>
              <a:rPr lang="en-US" sz="1200" dirty="0">
                <a:solidFill>
                  <a:schemeClr val="tx1"/>
                </a:solidFill>
              </a:rPr>
              <a:t>learned account summary</a:t>
            </a:r>
            <a:endParaRPr lang="en-US" sz="1200" dirty="0"/>
          </a:p>
        </p:txBody>
      </p:sp>
      <p:sp>
        <p:nvSpPr>
          <p:cNvPr id="53" name="Level PD"/>
          <p:cNvSpPr/>
          <p:nvPr/>
        </p:nvSpPr>
        <p:spPr>
          <a:xfrm>
            <a:off x="9944100" y="4434840"/>
            <a:ext cx="1696212" cy="1417320"/>
          </a:xfrm>
          <a:prstGeom prst="roundRect">
            <a:avLst>
              <a:gd name="adj" fmla="val 6452"/>
            </a:avLst>
          </a:prstGeom>
          <a:solidFill>
            <a:srgbClr val="FBE6C2"/>
          </a:solidFill>
          <a:ln w="12700">
            <a:solidFill>
              <a:srgbClr val="FBE6C2"/>
            </a:solidFill>
            <a:prstDash val="solid"/>
          </a:ln>
        </p:spPr>
      </p:sp>
      <p:sp>
        <p:nvSpPr>
          <p:cNvPr id="54" name="Text 47"/>
          <p:cNvSpPr txBox="1"/>
          <p:nvPr/>
        </p:nvSpPr>
        <p:spPr>
          <a:xfrm>
            <a:off x="10081260" y="4544568"/>
            <a:ext cx="1421892" cy="365760"/>
          </a:xfrm>
          <a:prstGeom prst="rect">
            <a:avLst/>
          </a:prstGeom>
          <a:noFill/>
          <a:ln/>
        </p:spPr>
        <p:txBody>
          <a:bodyPr wrap="square" lIns="0" tIns="0" rIns="0" bIns="0" rtlCol="0" anchor="ctr"/>
          <a:lstStyle/>
          <a:p>
            <a:pPr indent="0" marL="0">
              <a:buNone/>
            </a:pPr>
            <a:r>
              <a:rPr lang="en-US" sz="2000" b="1" dirty="0">
                <a:solidFill>
                  <a:schemeClr val="tx2"/>
                </a:solidFill>
              </a:rPr>
              <a:t>PD</a:t>
            </a:r>
            <a:endParaRPr lang="en-US" sz="2000" dirty="0"/>
          </a:p>
        </p:txBody>
      </p:sp>
      <p:sp>
        <p:nvSpPr>
          <p:cNvPr id="55" name="Text 48"/>
          <p:cNvSpPr txBox="1"/>
          <p:nvPr/>
        </p:nvSpPr>
        <p:spPr>
          <a:xfrm>
            <a:off x="10081260" y="4937760"/>
            <a:ext cx="1421892" cy="320040"/>
          </a:xfrm>
          <a:prstGeom prst="rect">
            <a:avLst/>
          </a:prstGeom>
          <a:noFill/>
          <a:ln/>
        </p:spPr>
        <p:txBody>
          <a:bodyPr wrap="square" lIns="0" tIns="0" rIns="0" bIns="0" rtlCol="0" anchor="ctr"/>
          <a:lstStyle/>
          <a:p>
            <a:pPr indent="0" marL="0">
              <a:buNone/>
            </a:pPr>
            <a:r>
              <a:rPr lang="en-US" sz="1400" b="1" dirty="0">
                <a:solidFill>
                  <a:schemeClr val="tx1"/>
                </a:solidFill>
              </a:rPr>
              <a:t>Progressive</a:t>
            </a:r>
            <a:endParaRPr lang="en-US" sz="1400" dirty="0"/>
          </a:p>
        </p:txBody>
      </p:sp>
      <p:sp>
        <p:nvSpPr>
          <p:cNvPr id="56" name="Text 49"/>
          <p:cNvSpPr txBox="1"/>
          <p:nvPr/>
        </p:nvSpPr>
        <p:spPr>
          <a:xfrm>
            <a:off x="10081260" y="5257800"/>
            <a:ext cx="1421892" cy="548640"/>
          </a:xfrm>
          <a:prstGeom prst="rect">
            <a:avLst/>
          </a:prstGeom>
          <a:noFill/>
          <a:ln/>
        </p:spPr>
        <p:txBody>
          <a:bodyPr wrap="square" lIns="0" tIns="0" rIns="0" bIns="0" rtlCol="0" anchor="t"/>
          <a:lstStyle/>
          <a:p>
            <a:pPr indent="0" marL="0">
              <a:buNone/>
            </a:pPr>
            <a:r>
              <a:rPr lang="en-US" sz="1200" dirty="0">
                <a:solidFill>
                  <a:schemeClr val="tx1"/>
                </a:solidFill>
              </a:rPr>
              <a:t>record only when evidence is strong</a:t>
            </a:r>
            <a:endParaRPr lang="en-US" sz="1200" dirty="0"/>
          </a:p>
        </p:txBody>
      </p:sp>
      <p:sp>
        <p:nvSpPr>
          <p:cNvPr id="57" name="Text 50"/>
          <p:cNvSpPr txBox="1"/>
          <p:nvPr/>
        </p:nvSpPr>
        <p:spPr>
          <a:xfrm>
            <a:off x="548640" y="5943600"/>
            <a:ext cx="11091672" cy="320040"/>
          </a:xfrm>
          <a:prstGeom prst="rect">
            <a:avLst/>
          </a:prstGeom>
          <a:noFill/>
          <a:ln/>
        </p:spPr>
        <p:txBody>
          <a:bodyPr wrap="square" lIns="0" tIns="0" rIns="0" bIns="0" rtlCol="0" anchor="ctr"/>
          <a:lstStyle/>
          <a:p>
            <a:pPr indent="0" marL="0">
              <a:buNone/>
            </a:pPr>
            <a:r>
              <a:rPr lang="en-US" sz="1300" i="1" dirty="0">
                <a:solidFill>
                  <a:schemeClr val="accent5"/>
                </a:solidFill>
              </a:rPr>
              <a:t>More sharing → more detection, but more leakage. FinMesh measures both at every level.</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94392"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Methods and techniques</a:t>
            </a:r>
            <a:endParaRPr lang="en-US" sz="3200" dirty="0"/>
          </a:p>
        </p:txBody>
      </p:sp>
      <p:sp>
        <p:nvSpPr>
          <p:cNvPr id="3" name="Method 1 card"/>
          <p:cNvSpPr/>
          <p:nvPr/>
        </p:nvSpPr>
        <p:spPr>
          <a:xfrm>
            <a:off x="548640" y="1234440"/>
            <a:ext cx="3483864"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4" name="Method 1 circle"/>
          <p:cNvSpPr/>
          <p:nvPr/>
        </p:nvSpPr>
        <p:spPr>
          <a:xfrm>
            <a:off x="777240" y="1463040"/>
            <a:ext cx="594360" cy="594360"/>
          </a:xfrm>
          <a:prstGeom prst="ellipse">
            <a:avLst/>
          </a:prstGeom>
          <a:solidFill>
            <a:schemeClr val="accent1"/>
          </a:solidFill>
          <a:ln w="12700">
            <a:solidFill>
              <a:schemeClr val="accent1"/>
            </a:solidFill>
            <a:prstDash val="solid"/>
          </a:ln>
        </p:spPr>
      </p:sp>
      <p:pic>
        <p:nvPicPr>
          <p:cNvPr id="5" name="Method 1 icon" descr="preencoded.png">    </p:cNvPr>
          <p:cNvPicPr>
            <a:picLocks noChangeAspect="1"/>
          </p:cNvPicPr>
          <p:nvPr/>
        </p:nvPicPr>
        <p:blipFill>
          <a:blip r:embed="rId1"/>
          <a:stretch>
            <a:fillRect/>
          </a:stretch>
        </p:blipFill>
        <p:spPr>
          <a:xfrm>
            <a:off x="919886" y="1605686"/>
            <a:ext cx="309067" cy="309067"/>
          </a:xfrm>
          <a:prstGeom prst="rect">
            <a:avLst/>
          </a:prstGeom>
        </p:spPr>
      </p:pic>
      <p:sp>
        <p:nvSpPr>
          <p:cNvPr id="6" name="Text 3"/>
          <p:cNvSpPr txBox="1"/>
          <p:nvPr/>
        </p:nvSpPr>
        <p:spPr>
          <a:xfrm>
            <a:off x="1508760" y="1508760"/>
            <a:ext cx="2386584" cy="502920"/>
          </a:xfrm>
          <a:prstGeom prst="rect">
            <a:avLst/>
          </a:prstGeom>
          <a:noFill/>
          <a:ln/>
        </p:spPr>
        <p:txBody>
          <a:bodyPr wrap="square" lIns="0" tIns="0" rIns="0" bIns="0" rtlCol="0" anchor="ctr"/>
          <a:lstStyle/>
          <a:p>
            <a:pPr indent="0" marL="0">
              <a:buNone/>
            </a:pPr>
            <a:r>
              <a:rPr lang="en-US" sz="1700" b="1" dirty="0">
                <a:solidFill>
                  <a:schemeClr val="tx2"/>
                </a:solidFill>
              </a:rPr>
              <a:t>Data</a:t>
            </a:r>
            <a:endParaRPr lang="en-US" sz="1700" dirty="0"/>
          </a:p>
        </p:txBody>
      </p:sp>
      <p:sp>
        <p:nvSpPr>
          <p:cNvPr id="7" name="Text 4"/>
          <p:cNvSpPr txBox="1"/>
          <p:nvPr/>
        </p:nvSpPr>
        <p:spPr>
          <a:xfrm>
            <a:off x="777240" y="2194560"/>
            <a:ext cx="3026664" cy="1143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IBM AMLworld synthetic bank data (complete laundering labels)</a:t>
            </a:r>
            <a:endParaRPr lang="en-US" sz="1300" dirty="0"/>
          </a:p>
          <a:p>
            <a:pPr marL="342900" indent="-342900">
              <a:spcAft>
                <a:spcPts val="600"/>
              </a:spcAft>
              <a:buSzPct val="100000"/>
              <a:buChar char="•"/>
            </a:pPr>
            <a:r>
              <a:rPr lang="en-US" sz="1300" dirty="0">
                <a:solidFill>
                  <a:schemeClr val="tx1"/>
                </a:solidFill>
              </a:rPr>
              <a:t>HI- and LI-Medium: about 32M transactions, 8 member banks</a:t>
            </a:r>
            <a:endParaRPr lang="en-US" sz="1300" dirty="0"/>
          </a:p>
        </p:txBody>
      </p:sp>
      <p:sp>
        <p:nvSpPr>
          <p:cNvPr id="8" name="Method 2 card"/>
          <p:cNvSpPr/>
          <p:nvPr/>
        </p:nvSpPr>
        <p:spPr>
          <a:xfrm>
            <a:off x="4352544" y="1234440"/>
            <a:ext cx="3483864"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9" name="Method 2 circle"/>
          <p:cNvSpPr/>
          <p:nvPr/>
        </p:nvSpPr>
        <p:spPr>
          <a:xfrm>
            <a:off x="4581144" y="1463040"/>
            <a:ext cx="594360" cy="594360"/>
          </a:xfrm>
          <a:prstGeom prst="ellipse">
            <a:avLst/>
          </a:prstGeom>
          <a:solidFill>
            <a:schemeClr val="accent1"/>
          </a:solidFill>
          <a:ln w="12700">
            <a:solidFill>
              <a:schemeClr val="accent1"/>
            </a:solidFill>
            <a:prstDash val="solid"/>
          </a:ln>
        </p:spPr>
      </p:sp>
      <p:pic>
        <p:nvPicPr>
          <p:cNvPr id="10" name="Method 2 icon" descr="preencoded.png">    </p:cNvPr>
          <p:cNvPicPr>
            <a:picLocks noChangeAspect="1"/>
          </p:cNvPicPr>
          <p:nvPr/>
        </p:nvPicPr>
        <p:blipFill>
          <a:blip r:embed="rId2"/>
          <a:stretch>
            <a:fillRect/>
          </a:stretch>
        </p:blipFill>
        <p:spPr>
          <a:xfrm>
            <a:off x="4723790" y="1605686"/>
            <a:ext cx="309067" cy="309067"/>
          </a:xfrm>
          <a:prstGeom prst="rect">
            <a:avLst/>
          </a:prstGeom>
        </p:spPr>
      </p:pic>
      <p:sp>
        <p:nvSpPr>
          <p:cNvPr id="11" name="Text 7"/>
          <p:cNvSpPr txBox="1"/>
          <p:nvPr/>
        </p:nvSpPr>
        <p:spPr>
          <a:xfrm>
            <a:off x="5312664" y="1508760"/>
            <a:ext cx="2386584" cy="502920"/>
          </a:xfrm>
          <a:prstGeom prst="rect">
            <a:avLst/>
          </a:prstGeom>
          <a:noFill/>
          <a:ln/>
        </p:spPr>
        <p:txBody>
          <a:bodyPr wrap="square" lIns="0" tIns="0" rIns="0" bIns="0" rtlCol="0" anchor="ctr"/>
          <a:lstStyle/>
          <a:p>
            <a:pPr indent="0" marL="0">
              <a:buNone/>
            </a:pPr>
            <a:r>
              <a:rPr lang="en-US" sz="1700" b="1" dirty="0">
                <a:solidFill>
                  <a:schemeClr val="tx2"/>
                </a:solidFill>
              </a:rPr>
              <a:t>Detection</a:t>
            </a:r>
            <a:endParaRPr lang="en-US" sz="1700" dirty="0"/>
          </a:p>
        </p:txBody>
      </p:sp>
      <p:sp>
        <p:nvSpPr>
          <p:cNvPr id="12" name="Text 8"/>
          <p:cNvSpPr txBox="1"/>
          <p:nvPr/>
        </p:nvSpPr>
        <p:spPr>
          <a:xfrm>
            <a:off x="4581144" y="2194560"/>
            <a:ext cx="3026664" cy="1143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Graph features: fan-in/out, cycles, pass-through</a:t>
            </a:r>
            <a:endParaRPr lang="en-US" sz="1300" dirty="0"/>
          </a:p>
          <a:p>
            <a:pPr marL="342900" indent="-342900">
              <a:spcAft>
                <a:spcPts val="600"/>
              </a:spcAft>
              <a:buSzPct val="100000"/>
              <a:buChar char="•"/>
            </a:pPr>
            <a:r>
              <a:rPr lang="en-US" sz="1300" dirty="0">
                <a:solidFill>
                  <a:schemeClr val="tx1"/>
                </a:solidFill>
              </a:rPr>
              <a:t>LightGBM, autoencoder, neural network (MLP)</a:t>
            </a:r>
            <a:endParaRPr lang="en-US" sz="1300" dirty="0"/>
          </a:p>
        </p:txBody>
      </p:sp>
      <p:sp>
        <p:nvSpPr>
          <p:cNvPr id="13" name="Method 3 card"/>
          <p:cNvSpPr/>
          <p:nvPr/>
        </p:nvSpPr>
        <p:spPr>
          <a:xfrm>
            <a:off x="8156448" y="1234440"/>
            <a:ext cx="3483864"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14" name="Method 3 circle"/>
          <p:cNvSpPr/>
          <p:nvPr/>
        </p:nvSpPr>
        <p:spPr>
          <a:xfrm>
            <a:off x="8385048" y="1463040"/>
            <a:ext cx="594360" cy="594360"/>
          </a:xfrm>
          <a:prstGeom prst="ellipse">
            <a:avLst/>
          </a:prstGeom>
          <a:solidFill>
            <a:schemeClr val="accent1"/>
          </a:solidFill>
          <a:ln w="12700">
            <a:solidFill>
              <a:schemeClr val="accent1"/>
            </a:solidFill>
            <a:prstDash val="solid"/>
          </a:ln>
        </p:spPr>
      </p:sp>
      <p:pic>
        <p:nvPicPr>
          <p:cNvPr id="15" name="Method 3 icon" descr="preencoded.png">    </p:cNvPr>
          <p:cNvPicPr>
            <a:picLocks noChangeAspect="1"/>
          </p:cNvPicPr>
          <p:nvPr/>
        </p:nvPicPr>
        <p:blipFill>
          <a:blip r:embed="rId3"/>
          <a:stretch>
            <a:fillRect/>
          </a:stretch>
        </p:blipFill>
        <p:spPr>
          <a:xfrm>
            <a:off x="8527694" y="1605686"/>
            <a:ext cx="309067" cy="309067"/>
          </a:xfrm>
          <a:prstGeom prst="rect">
            <a:avLst/>
          </a:prstGeom>
        </p:spPr>
      </p:pic>
      <p:sp>
        <p:nvSpPr>
          <p:cNvPr id="16" name="Text 11"/>
          <p:cNvSpPr txBox="1"/>
          <p:nvPr/>
        </p:nvSpPr>
        <p:spPr>
          <a:xfrm>
            <a:off x="9116568" y="1508760"/>
            <a:ext cx="2386584" cy="502920"/>
          </a:xfrm>
          <a:prstGeom prst="rect">
            <a:avLst/>
          </a:prstGeom>
          <a:noFill/>
          <a:ln/>
        </p:spPr>
        <p:txBody>
          <a:bodyPr wrap="square" lIns="0" tIns="0" rIns="0" bIns="0" rtlCol="0" anchor="ctr"/>
          <a:lstStyle/>
          <a:p>
            <a:pPr indent="0" marL="0">
              <a:buNone/>
            </a:pPr>
            <a:r>
              <a:rPr lang="en-US" sz="1700" b="1" dirty="0">
                <a:solidFill>
                  <a:schemeClr val="tx2"/>
                </a:solidFill>
              </a:rPr>
              <a:t>Private matching</a:t>
            </a:r>
            <a:endParaRPr lang="en-US" sz="1700" dirty="0"/>
          </a:p>
        </p:txBody>
      </p:sp>
      <p:sp>
        <p:nvSpPr>
          <p:cNvPr id="17" name="Text 12"/>
          <p:cNvSpPr txBox="1"/>
          <p:nvPr/>
        </p:nvSpPr>
        <p:spPr>
          <a:xfrm>
            <a:off x="8385048" y="2194560"/>
            <a:ext cx="3026664" cy="1143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Oblivious pseudorandom function (OPRF, RFC 9497)</a:t>
            </a:r>
            <a:endParaRPr lang="en-US" sz="1300" dirty="0"/>
          </a:p>
          <a:p>
            <a:pPr marL="342900" indent="-342900">
              <a:spcAft>
                <a:spcPts val="600"/>
              </a:spcAft>
              <a:buSzPct val="100000"/>
              <a:buChar char="•"/>
            </a:pPr>
            <a:r>
              <a:rPr lang="en-US" sz="1300" dirty="0">
                <a:solidFill>
                  <a:schemeClr val="tx1"/>
                </a:solidFill>
              </a:rPr>
              <a:t>Per-bank query budgets; compared with shared-key hashing</a:t>
            </a:r>
            <a:endParaRPr lang="en-US" sz="1300" dirty="0"/>
          </a:p>
        </p:txBody>
      </p:sp>
      <p:sp>
        <p:nvSpPr>
          <p:cNvPr id="18" name="Method 4 card"/>
          <p:cNvSpPr/>
          <p:nvPr/>
        </p:nvSpPr>
        <p:spPr>
          <a:xfrm>
            <a:off x="548640" y="3749040"/>
            <a:ext cx="3483864"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19" name="Method 4 circle"/>
          <p:cNvSpPr/>
          <p:nvPr/>
        </p:nvSpPr>
        <p:spPr>
          <a:xfrm>
            <a:off x="777240" y="3977640"/>
            <a:ext cx="594360" cy="594360"/>
          </a:xfrm>
          <a:prstGeom prst="ellipse">
            <a:avLst/>
          </a:prstGeom>
          <a:solidFill>
            <a:schemeClr val="accent1"/>
          </a:solidFill>
          <a:ln w="12700">
            <a:solidFill>
              <a:schemeClr val="accent1"/>
            </a:solidFill>
            <a:prstDash val="solid"/>
          </a:ln>
        </p:spPr>
      </p:sp>
      <p:pic>
        <p:nvPicPr>
          <p:cNvPr id="20" name="Method 4 icon" descr="preencoded.png">    </p:cNvPr>
          <p:cNvPicPr>
            <a:picLocks noChangeAspect="1"/>
          </p:cNvPicPr>
          <p:nvPr/>
        </p:nvPicPr>
        <p:blipFill>
          <a:blip r:embed="rId4"/>
          <a:stretch>
            <a:fillRect/>
          </a:stretch>
        </p:blipFill>
        <p:spPr>
          <a:xfrm>
            <a:off x="919886" y="4120286"/>
            <a:ext cx="309067" cy="309067"/>
          </a:xfrm>
          <a:prstGeom prst="rect">
            <a:avLst/>
          </a:prstGeom>
        </p:spPr>
      </p:pic>
      <p:sp>
        <p:nvSpPr>
          <p:cNvPr id="21" name="Text 15"/>
          <p:cNvSpPr txBox="1"/>
          <p:nvPr/>
        </p:nvSpPr>
        <p:spPr>
          <a:xfrm>
            <a:off x="1508760" y="4023360"/>
            <a:ext cx="2386584" cy="502920"/>
          </a:xfrm>
          <a:prstGeom prst="rect">
            <a:avLst/>
          </a:prstGeom>
          <a:noFill/>
          <a:ln/>
        </p:spPr>
        <p:txBody>
          <a:bodyPr wrap="square" lIns="0" tIns="0" rIns="0" bIns="0" rtlCol="0" anchor="ctr"/>
          <a:lstStyle/>
          <a:p>
            <a:pPr indent="0" marL="0">
              <a:buNone/>
            </a:pPr>
            <a:r>
              <a:rPr lang="en-US" sz="1700" b="1" dirty="0">
                <a:solidFill>
                  <a:schemeClr val="tx2"/>
                </a:solidFill>
              </a:rPr>
              <a:t>Privacy techniques</a:t>
            </a:r>
            <a:endParaRPr lang="en-US" sz="1700" dirty="0"/>
          </a:p>
        </p:txBody>
      </p:sp>
      <p:sp>
        <p:nvSpPr>
          <p:cNvPr id="22" name="Text 16"/>
          <p:cNvSpPr txBox="1"/>
          <p:nvPr/>
        </p:nvSpPr>
        <p:spPr>
          <a:xfrm>
            <a:off x="777240" y="4709160"/>
            <a:ext cx="3026664" cy="1143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Local DP (randomised response) for shared records</a:t>
            </a:r>
            <a:endParaRPr lang="en-US" sz="1300" dirty="0"/>
          </a:p>
          <a:p>
            <a:pPr marL="342900" indent="-342900">
              <a:spcAft>
                <a:spcPts val="600"/>
              </a:spcAft>
              <a:buSzPct val="100000"/>
              <a:buChar char="•"/>
            </a:pPr>
            <a:r>
              <a:rPr lang="en-US" sz="1300" dirty="0">
                <a:solidFill>
                  <a:schemeClr val="tx1"/>
                </a:solidFill>
              </a:rPr>
              <a:t>Federated learning + DP-SGD, Rényi accounting, account-level unit, degree cap</a:t>
            </a:r>
            <a:endParaRPr lang="en-US" sz="1300" dirty="0"/>
          </a:p>
        </p:txBody>
      </p:sp>
      <p:sp>
        <p:nvSpPr>
          <p:cNvPr id="23" name="Method 5 card"/>
          <p:cNvSpPr/>
          <p:nvPr/>
        </p:nvSpPr>
        <p:spPr>
          <a:xfrm>
            <a:off x="4352544" y="3749040"/>
            <a:ext cx="3483864"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24" name="Method 5 circle"/>
          <p:cNvSpPr/>
          <p:nvPr/>
        </p:nvSpPr>
        <p:spPr>
          <a:xfrm>
            <a:off x="4581144" y="3977640"/>
            <a:ext cx="594360" cy="594360"/>
          </a:xfrm>
          <a:prstGeom prst="ellipse">
            <a:avLst/>
          </a:prstGeom>
          <a:solidFill>
            <a:schemeClr val="accent3"/>
          </a:solidFill>
          <a:ln w="12700">
            <a:solidFill>
              <a:schemeClr val="accent3"/>
            </a:solidFill>
            <a:prstDash val="solid"/>
          </a:ln>
        </p:spPr>
      </p:sp>
      <p:pic>
        <p:nvPicPr>
          <p:cNvPr id="25" name="Method 5 icon" descr="preencoded.png">    </p:cNvPr>
          <p:cNvPicPr>
            <a:picLocks noChangeAspect="1"/>
          </p:cNvPicPr>
          <p:nvPr/>
        </p:nvPicPr>
        <p:blipFill>
          <a:blip r:embed="rId5"/>
          <a:stretch>
            <a:fillRect/>
          </a:stretch>
        </p:blipFill>
        <p:spPr>
          <a:xfrm>
            <a:off x="4723790" y="4120286"/>
            <a:ext cx="309067" cy="309067"/>
          </a:xfrm>
          <a:prstGeom prst="rect">
            <a:avLst/>
          </a:prstGeom>
        </p:spPr>
      </p:pic>
      <p:sp>
        <p:nvSpPr>
          <p:cNvPr id="26" name="Text 19"/>
          <p:cNvSpPr txBox="1"/>
          <p:nvPr/>
        </p:nvSpPr>
        <p:spPr>
          <a:xfrm>
            <a:off x="5312664" y="4023360"/>
            <a:ext cx="2386584" cy="502920"/>
          </a:xfrm>
          <a:prstGeom prst="rect">
            <a:avLst/>
          </a:prstGeom>
          <a:noFill/>
          <a:ln/>
        </p:spPr>
        <p:txBody>
          <a:bodyPr wrap="square" lIns="0" tIns="0" rIns="0" bIns="0" rtlCol="0" anchor="ctr"/>
          <a:lstStyle/>
          <a:p>
            <a:pPr indent="0" marL="0">
              <a:buNone/>
            </a:pPr>
            <a:r>
              <a:rPr lang="en-US" sz="1700" b="1" dirty="0">
                <a:solidFill>
                  <a:schemeClr val="tx2"/>
                </a:solidFill>
              </a:rPr>
              <a:t>Attack suite</a:t>
            </a:r>
            <a:endParaRPr lang="en-US" sz="1700" dirty="0"/>
          </a:p>
        </p:txBody>
      </p:sp>
      <p:sp>
        <p:nvSpPr>
          <p:cNvPr id="27" name="Text 20"/>
          <p:cNvSpPr txBox="1"/>
          <p:nvPr/>
        </p:nvSpPr>
        <p:spPr>
          <a:xfrm>
            <a:off x="4581144" y="4709160"/>
            <a:ext cx="3026664" cy="1143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Re-identification, relationship, attribute and linkability attacks</a:t>
            </a:r>
            <a:endParaRPr lang="en-US" sz="1300" dirty="0"/>
          </a:p>
          <a:p>
            <a:pPr marL="342900" indent="-342900">
              <a:spcAft>
                <a:spcPts val="600"/>
              </a:spcAft>
              <a:buSzPct val="100000"/>
              <a:buChar char="•"/>
            </a:pPr>
            <a:r>
              <a:rPr lang="en-US" sz="1300" dirty="0">
                <a:solidFill>
                  <a:schemeClr val="tx1"/>
                </a:solidFill>
              </a:rPr>
              <a:t>Membership inference and query leakage</a:t>
            </a:r>
            <a:endParaRPr lang="en-US" sz="1300" dirty="0"/>
          </a:p>
        </p:txBody>
      </p:sp>
      <p:sp>
        <p:nvSpPr>
          <p:cNvPr id="28" name="Method 6 card"/>
          <p:cNvSpPr/>
          <p:nvPr/>
        </p:nvSpPr>
        <p:spPr>
          <a:xfrm>
            <a:off x="8156448" y="3749040"/>
            <a:ext cx="3483864"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29" name="Method 6 circle"/>
          <p:cNvSpPr/>
          <p:nvPr/>
        </p:nvSpPr>
        <p:spPr>
          <a:xfrm>
            <a:off x="8385048" y="3977640"/>
            <a:ext cx="594360" cy="594360"/>
          </a:xfrm>
          <a:prstGeom prst="ellipse">
            <a:avLst/>
          </a:prstGeom>
          <a:solidFill>
            <a:schemeClr val="accent1"/>
          </a:solidFill>
          <a:ln w="12700">
            <a:solidFill>
              <a:schemeClr val="accent1"/>
            </a:solidFill>
            <a:prstDash val="solid"/>
          </a:ln>
        </p:spPr>
      </p:sp>
      <p:pic>
        <p:nvPicPr>
          <p:cNvPr id="30" name="Method 6 icon" descr="preencoded.png">    </p:cNvPr>
          <p:cNvPicPr>
            <a:picLocks noChangeAspect="1"/>
          </p:cNvPicPr>
          <p:nvPr/>
        </p:nvPicPr>
        <p:blipFill>
          <a:blip r:embed="rId6"/>
          <a:stretch>
            <a:fillRect/>
          </a:stretch>
        </p:blipFill>
        <p:spPr>
          <a:xfrm>
            <a:off x="8527694" y="4120286"/>
            <a:ext cx="309067" cy="309067"/>
          </a:xfrm>
          <a:prstGeom prst="rect">
            <a:avLst/>
          </a:prstGeom>
        </p:spPr>
      </p:pic>
      <p:sp>
        <p:nvSpPr>
          <p:cNvPr id="31" name="Text 23"/>
          <p:cNvSpPr txBox="1"/>
          <p:nvPr/>
        </p:nvSpPr>
        <p:spPr>
          <a:xfrm>
            <a:off x="9116568" y="4023360"/>
            <a:ext cx="2386584" cy="502920"/>
          </a:xfrm>
          <a:prstGeom prst="rect">
            <a:avLst/>
          </a:prstGeom>
          <a:noFill/>
          <a:ln/>
        </p:spPr>
        <p:txBody>
          <a:bodyPr wrap="square" lIns="0" tIns="0" rIns="0" bIns="0" rtlCol="0" anchor="ctr"/>
          <a:lstStyle/>
          <a:p>
            <a:pPr indent="0" marL="0">
              <a:buNone/>
            </a:pPr>
            <a:r>
              <a:rPr lang="en-US" sz="1700" b="1" dirty="0">
                <a:solidFill>
                  <a:schemeClr val="tx2"/>
                </a:solidFill>
              </a:rPr>
              <a:t>Fair evaluation</a:t>
            </a:r>
            <a:endParaRPr lang="en-US" sz="1700" dirty="0"/>
          </a:p>
        </p:txBody>
      </p:sp>
      <p:sp>
        <p:nvSpPr>
          <p:cNvPr id="32" name="Text 24"/>
          <p:cNvSpPr txBox="1"/>
          <p:nvPr/>
        </p:nvSpPr>
        <p:spPr>
          <a:xfrm>
            <a:off x="8385048" y="4709160"/>
            <a:ext cx="3026664" cy="1143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Sealed test set, opened once; pre-registered hypotheses</a:t>
            </a:r>
            <a:endParaRPr lang="en-US" sz="1300" dirty="0"/>
          </a:p>
          <a:p>
            <a:pPr marL="342900" indent="-342900">
              <a:spcAft>
                <a:spcPts val="600"/>
              </a:spcAft>
              <a:buSzPct val="100000"/>
              <a:buChar char="•"/>
            </a:pPr>
            <a:r>
              <a:rPr lang="en-US" sz="1300" dirty="0">
                <a:solidFill>
                  <a:schemeClr val="tx1"/>
                </a:solidFill>
              </a:rPr>
              <a:t>Same alert budget for every bank; 95% bootstrap intervals</a:t>
            </a:r>
            <a:endParaRPr lang="en-US" sz="1300" dirty="0"/>
          </a:p>
        </p:txBody>
      </p:sp>
      <p:sp>
        <p:nvSpPr>
          <p:cNvPr id="33" name="Text 25"/>
          <p:cNvSpPr txBox="1"/>
          <p:nvPr/>
        </p:nvSpPr>
        <p:spPr>
          <a:xfrm>
            <a:off x="548640" y="6035040"/>
            <a:ext cx="11091672" cy="320040"/>
          </a:xfrm>
          <a:prstGeom prst="rect">
            <a:avLst/>
          </a:prstGeom>
          <a:noFill/>
          <a:ln/>
        </p:spPr>
        <p:txBody>
          <a:bodyPr wrap="square" lIns="0" tIns="0" rIns="0" bIns="0" rtlCol="0" anchor="ctr"/>
          <a:lstStyle/>
          <a:p>
            <a:pPr indent="0" marL="0">
              <a:buNone/>
            </a:pPr>
            <a:r>
              <a:rPr lang="en-US" sz="1200" i="1" dirty="0">
                <a:solidFill>
                  <a:schemeClr val="accent5"/>
                </a:solidFill>
              </a:rPr>
              <a:t>Tools: Python, Polars, LightGBM, NumPy, Google dp-accounting, local LLM (llama3.2 3B) — all on one 8 GB laptop</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94392"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Progress so far and next steps</a:t>
            </a:r>
            <a:endParaRPr lang="en-US" sz="3200" dirty="0"/>
          </a:p>
        </p:txBody>
      </p:sp>
      <p:sp>
        <p:nvSpPr>
          <p:cNvPr id="3" name="Phase 1 dot"/>
          <p:cNvSpPr/>
          <p:nvPr/>
        </p:nvSpPr>
        <p:spPr>
          <a:xfrm>
            <a:off x="548640" y="1344168"/>
            <a:ext cx="384048" cy="384048"/>
          </a:xfrm>
          <a:prstGeom prst="ellipse">
            <a:avLst/>
          </a:prstGeom>
          <a:solidFill>
            <a:srgbClr val="0F7C7C"/>
          </a:solidFill>
          <a:ln w="12700">
            <a:solidFill>
              <a:srgbClr val="0F7C7C"/>
            </a:solidFill>
            <a:prstDash val="solid"/>
          </a:ln>
        </p:spPr>
      </p:sp>
      <p:pic>
        <p:nvPicPr>
          <p:cNvPr id="4" name="Phase 1 tick" descr="preencoded.png">    </p:cNvPr>
          <p:cNvPicPr>
            <a:picLocks noChangeAspect="1"/>
          </p:cNvPicPr>
          <p:nvPr/>
        </p:nvPicPr>
        <p:blipFill>
          <a:blip r:embed="rId1"/>
          <a:stretch>
            <a:fillRect/>
          </a:stretch>
        </p:blipFill>
        <p:spPr>
          <a:xfrm>
            <a:off x="649224" y="1444752"/>
            <a:ext cx="182880" cy="182880"/>
          </a:xfrm>
          <a:prstGeom prst="rect">
            <a:avLst/>
          </a:prstGeom>
        </p:spPr>
      </p:pic>
      <p:sp>
        <p:nvSpPr>
          <p:cNvPr id="5" name="Phase link 1"/>
          <p:cNvSpPr/>
          <p:nvPr/>
        </p:nvSpPr>
        <p:spPr>
          <a:xfrm>
            <a:off x="740664" y="1746504"/>
            <a:ext cx="0" cy="402336"/>
          </a:xfrm>
          <a:prstGeom prst="line">
            <a:avLst/>
          </a:prstGeom>
          <a:noFill/>
          <a:ln w="25400">
            <a:solidFill>
              <a:srgbClr val="C9D3DD"/>
            </a:solidFill>
            <a:prstDash val="solid"/>
          </a:ln>
        </p:spPr>
      </p:sp>
      <p:sp>
        <p:nvSpPr>
          <p:cNvPr id="6" name="Text 3"/>
          <p:cNvSpPr txBox="1"/>
          <p:nvPr/>
        </p:nvSpPr>
        <p:spPr>
          <a:xfrm>
            <a:off x="1097280" y="1252728"/>
            <a:ext cx="4572000" cy="320040"/>
          </a:xfrm>
          <a:prstGeom prst="rect">
            <a:avLst/>
          </a:prstGeom>
          <a:noFill/>
          <a:ln/>
        </p:spPr>
        <p:txBody>
          <a:bodyPr wrap="square" lIns="0" tIns="0" rIns="0" bIns="0" rtlCol="0" anchor="ctr"/>
          <a:lstStyle/>
          <a:p>
            <a:pPr indent="0" marL="0">
              <a:buNone/>
            </a:pPr>
            <a:r>
              <a:rPr lang="en-US" sz="1400" b="1" dirty="0">
                <a:solidFill>
                  <a:schemeClr val="tx2"/>
                </a:solidFill>
              </a:rPr>
              <a:t>Weeks 1–2  </a:t>
            </a:r>
            <a:pPr indent="0" marL="0">
              <a:buNone/>
            </a:pPr>
            <a:r>
              <a:rPr lang="en-US" sz="1400" dirty="0">
                <a:solidFill>
                  <a:schemeClr val="tx1"/>
                </a:solidFill>
              </a:rPr>
              <a:t>Data and federation</a:t>
            </a:r>
            <a:endParaRPr lang="en-US" sz="1400" dirty="0"/>
          </a:p>
        </p:txBody>
      </p:sp>
      <p:sp>
        <p:nvSpPr>
          <p:cNvPr id="7" name="Text 4"/>
          <p:cNvSpPr txBox="1"/>
          <p:nvPr/>
        </p:nvSpPr>
        <p:spPr>
          <a:xfrm>
            <a:off x="1097280" y="1581912"/>
            <a:ext cx="4572000" cy="274320"/>
          </a:xfrm>
          <a:prstGeom prst="rect">
            <a:avLst/>
          </a:prstGeom>
          <a:noFill/>
          <a:ln/>
        </p:spPr>
        <p:txBody>
          <a:bodyPr wrap="square" lIns="0" tIns="0" rIns="0" bIns="0" rtlCol="0" anchor="ctr"/>
          <a:lstStyle/>
          <a:p>
            <a:pPr indent="0" marL="0">
              <a:buNone/>
            </a:pPr>
            <a:r>
              <a:rPr lang="en-US" sz="1200" i="1" dirty="0">
                <a:solidFill>
                  <a:schemeClr val="accent1"/>
                </a:solidFill>
              </a:rPr>
              <a:t>Done · Gate G0 passed</a:t>
            </a:r>
            <a:endParaRPr lang="en-US" sz="1200" dirty="0"/>
          </a:p>
        </p:txBody>
      </p:sp>
      <p:sp>
        <p:nvSpPr>
          <p:cNvPr id="8" name="Phase 2 dot"/>
          <p:cNvSpPr/>
          <p:nvPr/>
        </p:nvSpPr>
        <p:spPr>
          <a:xfrm>
            <a:off x="548640" y="2148840"/>
            <a:ext cx="384048" cy="384048"/>
          </a:xfrm>
          <a:prstGeom prst="ellipse">
            <a:avLst/>
          </a:prstGeom>
          <a:solidFill>
            <a:srgbClr val="0F7C7C"/>
          </a:solidFill>
          <a:ln w="12700">
            <a:solidFill>
              <a:srgbClr val="0F7C7C"/>
            </a:solidFill>
            <a:prstDash val="solid"/>
          </a:ln>
        </p:spPr>
      </p:sp>
      <p:pic>
        <p:nvPicPr>
          <p:cNvPr id="9" name="Phase 2 tick" descr="preencoded.png">    </p:cNvPr>
          <p:cNvPicPr>
            <a:picLocks noChangeAspect="1"/>
          </p:cNvPicPr>
          <p:nvPr/>
        </p:nvPicPr>
        <p:blipFill>
          <a:blip r:embed="rId2"/>
          <a:stretch>
            <a:fillRect/>
          </a:stretch>
        </p:blipFill>
        <p:spPr>
          <a:xfrm>
            <a:off x="649224" y="2249424"/>
            <a:ext cx="182880" cy="182880"/>
          </a:xfrm>
          <a:prstGeom prst="rect">
            <a:avLst/>
          </a:prstGeom>
        </p:spPr>
      </p:pic>
      <p:sp>
        <p:nvSpPr>
          <p:cNvPr id="10" name="Phase link 2"/>
          <p:cNvSpPr/>
          <p:nvPr/>
        </p:nvSpPr>
        <p:spPr>
          <a:xfrm>
            <a:off x="740664" y="2551176"/>
            <a:ext cx="0" cy="402336"/>
          </a:xfrm>
          <a:prstGeom prst="line">
            <a:avLst/>
          </a:prstGeom>
          <a:noFill/>
          <a:ln w="25400">
            <a:solidFill>
              <a:srgbClr val="C9D3DD"/>
            </a:solidFill>
            <a:prstDash val="solid"/>
          </a:ln>
        </p:spPr>
      </p:sp>
      <p:sp>
        <p:nvSpPr>
          <p:cNvPr id="11" name="Text 7"/>
          <p:cNvSpPr txBox="1"/>
          <p:nvPr/>
        </p:nvSpPr>
        <p:spPr>
          <a:xfrm>
            <a:off x="1097280" y="2057400"/>
            <a:ext cx="4572000" cy="320040"/>
          </a:xfrm>
          <a:prstGeom prst="rect">
            <a:avLst/>
          </a:prstGeom>
          <a:noFill/>
          <a:ln/>
        </p:spPr>
        <p:txBody>
          <a:bodyPr wrap="square" lIns="0" tIns="0" rIns="0" bIns="0" rtlCol="0" anchor="ctr"/>
          <a:lstStyle/>
          <a:p>
            <a:pPr indent="0" marL="0">
              <a:buNone/>
            </a:pPr>
            <a:r>
              <a:rPr lang="en-US" sz="1400" b="1" dirty="0">
                <a:solidFill>
                  <a:schemeClr val="tx2"/>
                </a:solidFill>
              </a:rPr>
              <a:t>Weeks 3–5  </a:t>
            </a:r>
            <a:pPr indent="0" marL="0">
              <a:buNone/>
            </a:pPr>
            <a:r>
              <a:rPr lang="en-US" sz="1400" dirty="0">
                <a:solidFill>
                  <a:schemeClr val="tx1"/>
                </a:solidFill>
              </a:rPr>
              <a:t>Evaluation harness, baselines</a:t>
            </a:r>
            <a:endParaRPr lang="en-US" sz="1400" dirty="0"/>
          </a:p>
        </p:txBody>
      </p:sp>
      <p:sp>
        <p:nvSpPr>
          <p:cNvPr id="12" name="Text 8"/>
          <p:cNvSpPr txBox="1"/>
          <p:nvPr/>
        </p:nvSpPr>
        <p:spPr>
          <a:xfrm>
            <a:off x="1097280" y="2386584"/>
            <a:ext cx="4572000" cy="274320"/>
          </a:xfrm>
          <a:prstGeom prst="rect">
            <a:avLst/>
          </a:prstGeom>
          <a:noFill/>
          <a:ln/>
        </p:spPr>
        <p:txBody>
          <a:bodyPr wrap="square" lIns="0" tIns="0" rIns="0" bIns="0" rtlCol="0" anchor="ctr"/>
          <a:lstStyle/>
          <a:p>
            <a:pPr indent="0" marL="0">
              <a:buNone/>
            </a:pPr>
            <a:r>
              <a:rPr lang="en-US" sz="1200" i="1" dirty="0">
                <a:solidFill>
                  <a:schemeClr val="accent1"/>
                </a:solidFill>
              </a:rPr>
              <a:t>Done · Gate G1 passed</a:t>
            </a:r>
            <a:endParaRPr lang="en-US" sz="1200" dirty="0"/>
          </a:p>
        </p:txBody>
      </p:sp>
      <p:sp>
        <p:nvSpPr>
          <p:cNvPr id="13" name="Phase 3 dot"/>
          <p:cNvSpPr/>
          <p:nvPr/>
        </p:nvSpPr>
        <p:spPr>
          <a:xfrm>
            <a:off x="548640" y="2953512"/>
            <a:ext cx="384048" cy="384048"/>
          </a:xfrm>
          <a:prstGeom prst="ellipse">
            <a:avLst/>
          </a:prstGeom>
          <a:solidFill>
            <a:srgbClr val="0F7C7C"/>
          </a:solidFill>
          <a:ln w="12700">
            <a:solidFill>
              <a:srgbClr val="0F7C7C"/>
            </a:solidFill>
            <a:prstDash val="solid"/>
          </a:ln>
        </p:spPr>
      </p:sp>
      <p:pic>
        <p:nvPicPr>
          <p:cNvPr id="14" name="Phase 3 tick" descr="preencoded.png">    </p:cNvPr>
          <p:cNvPicPr>
            <a:picLocks noChangeAspect="1"/>
          </p:cNvPicPr>
          <p:nvPr/>
        </p:nvPicPr>
        <p:blipFill>
          <a:blip r:embed="rId3"/>
          <a:stretch>
            <a:fillRect/>
          </a:stretch>
        </p:blipFill>
        <p:spPr>
          <a:xfrm>
            <a:off x="649224" y="3054096"/>
            <a:ext cx="182880" cy="182880"/>
          </a:xfrm>
          <a:prstGeom prst="rect">
            <a:avLst/>
          </a:prstGeom>
        </p:spPr>
      </p:pic>
      <p:sp>
        <p:nvSpPr>
          <p:cNvPr id="15" name="Phase link 3"/>
          <p:cNvSpPr/>
          <p:nvPr/>
        </p:nvSpPr>
        <p:spPr>
          <a:xfrm>
            <a:off x="740664" y="3355848"/>
            <a:ext cx="0" cy="402336"/>
          </a:xfrm>
          <a:prstGeom prst="line">
            <a:avLst/>
          </a:prstGeom>
          <a:noFill/>
          <a:ln w="25400">
            <a:solidFill>
              <a:srgbClr val="C9D3DD"/>
            </a:solidFill>
            <a:prstDash val="solid"/>
          </a:ln>
        </p:spPr>
      </p:sp>
      <p:sp>
        <p:nvSpPr>
          <p:cNvPr id="16" name="Text 11"/>
          <p:cNvSpPr txBox="1"/>
          <p:nvPr/>
        </p:nvSpPr>
        <p:spPr>
          <a:xfrm>
            <a:off x="1097280" y="2862072"/>
            <a:ext cx="4572000" cy="320040"/>
          </a:xfrm>
          <a:prstGeom prst="rect">
            <a:avLst/>
          </a:prstGeom>
          <a:noFill/>
          <a:ln/>
        </p:spPr>
        <p:txBody>
          <a:bodyPr wrap="square" lIns="0" tIns="0" rIns="0" bIns="0" rtlCol="0" anchor="ctr"/>
          <a:lstStyle/>
          <a:p>
            <a:pPr indent="0" marL="0">
              <a:buNone/>
            </a:pPr>
            <a:r>
              <a:rPr lang="en-US" sz="1400" b="1" dirty="0">
                <a:solidFill>
                  <a:schemeClr val="tx2"/>
                </a:solidFill>
              </a:rPr>
              <a:t>Weeks 6–9  </a:t>
            </a:r>
            <a:pPr indent="0" marL="0">
              <a:buNone/>
            </a:pPr>
            <a:r>
              <a:rPr lang="en-US" sz="1400" dirty="0">
                <a:solidFill>
                  <a:schemeClr val="tx1"/>
                </a:solidFill>
              </a:rPr>
              <a:t>Sharing ladder, matching, attacks</a:t>
            </a:r>
            <a:endParaRPr lang="en-US" sz="1400" dirty="0"/>
          </a:p>
        </p:txBody>
      </p:sp>
      <p:sp>
        <p:nvSpPr>
          <p:cNvPr id="17" name="Text 12"/>
          <p:cNvSpPr txBox="1"/>
          <p:nvPr/>
        </p:nvSpPr>
        <p:spPr>
          <a:xfrm>
            <a:off x="1097280" y="3191256"/>
            <a:ext cx="4572000" cy="274320"/>
          </a:xfrm>
          <a:prstGeom prst="rect">
            <a:avLst/>
          </a:prstGeom>
          <a:noFill/>
          <a:ln/>
        </p:spPr>
        <p:txBody>
          <a:bodyPr wrap="square" lIns="0" tIns="0" rIns="0" bIns="0" rtlCol="0" anchor="ctr"/>
          <a:lstStyle/>
          <a:p>
            <a:pPr indent="0" marL="0">
              <a:buNone/>
            </a:pPr>
            <a:r>
              <a:rPr lang="en-US" sz="1200" i="1" dirty="0">
                <a:solidFill>
                  <a:schemeClr val="accent1"/>
                </a:solidFill>
              </a:rPr>
              <a:t>Done · Gate G2 passed</a:t>
            </a:r>
            <a:endParaRPr lang="en-US" sz="1200" dirty="0"/>
          </a:p>
        </p:txBody>
      </p:sp>
      <p:sp>
        <p:nvSpPr>
          <p:cNvPr id="18" name="Phase 4 dot"/>
          <p:cNvSpPr/>
          <p:nvPr/>
        </p:nvSpPr>
        <p:spPr>
          <a:xfrm>
            <a:off x="548640" y="3758184"/>
            <a:ext cx="384048" cy="384048"/>
          </a:xfrm>
          <a:prstGeom prst="ellipse">
            <a:avLst/>
          </a:prstGeom>
          <a:solidFill>
            <a:srgbClr val="E09A2B"/>
          </a:solidFill>
          <a:ln w="12700">
            <a:solidFill>
              <a:srgbClr val="E09A2B"/>
            </a:solidFill>
            <a:prstDash val="solid"/>
          </a:ln>
        </p:spPr>
      </p:sp>
      <p:sp>
        <p:nvSpPr>
          <p:cNvPr id="19" name="Phase link 4"/>
          <p:cNvSpPr/>
          <p:nvPr/>
        </p:nvSpPr>
        <p:spPr>
          <a:xfrm>
            <a:off x="740664" y="4160520"/>
            <a:ext cx="0" cy="402336"/>
          </a:xfrm>
          <a:prstGeom prst="line">
            <a:avLst/>
          </a:prstGeom>
          <a:noFill/>
          <a:ln w="25400">
            <a:solidFill>
              <a:srgbClr val="C9D3DD"/>
            </a:solidFill>
            <a:prstDash val="solid"/>
          </a:ln>
        </p:spPr>
      </p:sp>
      <p:sp>
        <p:nvSpPr>
          <p:cNvPr id="20" name="Text 15"/>
          <p:cNvSpPr txBox="1"/>
          <p:nvPr/>
        </p:nvSpPr>
        <p:spPr>
          <a:xfrm>
            <a:off x="1097280" y="3666744"/>
            <a:ext cx="4572000" cy="320040"/>
          </a:xfrm>
          <a:prstGeom prst="rect">
            <a:avLst/>
          </a:prstGeom>
          <a:noFill/>
          <a:ln/>
        </p:spPr>
        <p:txBody>
          <a:bodyPr wrap="square" lIns="0" tIns="0" rIns="0" bIns="0" rtlCol="0" anchor="ctr"/>
          <a:lstStyle/>
          <a:p>
            <a:pPr indent="0" marL="0">
              <a:buNone/>
            </a:pPr>
            <a:r>
              <a:rPr lang="en-US" sz="1400" b="1" dirty="0">
                <a:solidFill>
                  <a:schemeClr val="tx2"/>
                </a:solidFill>
              </a:rPr>
              <a:t>Weeks 10–12  </a:t>
            </a:r>
            <a:pPr indent="0" marL="0">
              <a:buNone/>
            </a:pPr>
            <a:r>
              <a:rPr lang="en-US" sz="1400" dirty="0">
                <a:solidFill>
                  <a:schemeClr val="tx1"/>
                </a:solidFill>
              </a:rPr>
              <a:t>Federated DP model</a:t>
            </a:r>
            <a:endParaRPr lang="en-US" sz="1400" dirty="0"/>
          </a:p>
        </p:txBody>
      </p:sp>
      <p:sp>
        <p:nvSpPr>
          <p:cNvPr id="21" name="Text 16"/>
          <p:cNvSpPr txBox="1"/>
          <p:nvPr/>
        </p:nvSpPr>
        <p:spPr>
          <a:xfrm>
            <a:off x="1097280" y="3995928"/>
            <a:ext cx="4572000" cy="274320"/>
          </a:xfrm>
          <a:prstGeom prst="rect">
            <a:avLst/>
          </a:prstGeom>
          <a:noFill/>
          <a:ln/>
        </p:spPr>
        <p:txBody>
          <a:bodyPr wrap="square" lIns="0" tIns="0" rIns="0" bIns="0" rtlCol="0" anchor="ctr"/>
          <a:lstStyle/>
          <a:p>
            <a:pPr indent="0" marL="0">
              <a:buNone/>
            </a:pPr>
            <a:r>
              <a:rPr lang="en-US" sz="1200" i="1" dirty="0">
                <a:solidFill>
                  <a:schemeClr val="accent2"/>
                </a:solidFill>
              </a:rPr>
              <a:t>Final run in progress · G3</a:t>
            </a:r>
            <a:endParaRPr lang="en-US" sz="1200" dirty="0"/>
          </a:p>
        </p:txBody>
      </p:sp>
      <p:sp>
        <p:nvSpPr>
          <p:cNvPr id="22" name="Phase 5 dot"/>
          <p:cNvSpPr/>
          <p:nvPr/>
        </p:nvSpPr>
        <p:spPr>
          <a:xfrm>
            <a:off x="548640" y="4562856"/>
            <a:ext cx="384048" cy="384048"/>
          </a:xfrm>
          <a:prstGeom prst="ellipse">
            <a:avLst/>
          </a:prstGeom>
          <a:solidFill>
            <a:srgbClr val="C9D3DD"/>
          </a:solidFill>
          <a:ln w="12700">
            <a:solidFill>
              <a:srgbClr val="C9D3DD"/>
            </a:solidFill>
            <a:prstDash val="solid"/>
          </a:ln>
        </p:spPr>
      </p:sp>
      <p:sp>
        <p:nvSpPr>
          <p:cNvPr id="23" name="Phase link 5"/>
          <p:cNvSpPr/>
          <p:nvPr/>
        </p:nvSpPr>
        <p:spPr>
          <a:xfrm>
            <a:off x="740664" y="4965192"/>
            <a:ext cx="0" cy="402336"/>
          </a:xfrm>
          <a:prstGeom prst="line">
            <a:avLst/>
          </a:prstGeom>
          <a:noFill/>
          <a:ln w="25400">
            <a:solidFill>
              <a:srgbClr val="C9D3DD"/>
            </a:solidFill>
            <a:prstDash val="solid"/>
          </a:ln>
        </p:spPr>
      </p:sp>
      <p:sp>
        <p:nvSpPr>
          <p:cNvPr id="24" name="Text 19"/>
          <p:cNvSpPr txBox="1"/>
          <p:nvPr/>
        </p:nvSpPr>
        <p:spPr>
          <a:xfrm>
            <a:off x="1097280" y="4471416"/>
            <a:ext cx="4572000" cy="320040"/>
          </a:xfrm>
          <a:prstGeom prst="rect">
            <a:avLst/>
          </a:prstGeom>
          <a:noFill/>
          <a:ln/>
        </p:spPr>
        <p:txBody>
          <a:bodyPr wrap="square" lIns="0" tIns="0" rIns="0" bIns="0" rtlCol="0" anchor="ctr"/>
          <a:lstStyle/>
          <a:p>
            <a:pPr indent="0" marL="0">
              <a:buNone/>
            </a:pPr>
            <a:r>
              <a:rPr lang="en-US" sz="1400" b="1" dirty="0">
                <a:solidFill>
                  <a:schemeClr val="tx2"/>
                </a:solidFill>
              </a:rPr>
              <a:t>Weeks 13–17  </a:t>
            </a:r>
            <a:pPr indent="0" marL="0">
              <a:buNone/>
            </a:pPr>
            <a:r>
              <a:rPr lang="en-US" sz="1400" dirty="0">
                <a:solidFill>
                  <a:schemeClr val="tx1"/>
                </a:solidFill>
              </a:rPr>
              <a:t>Attribution, analyst console</a:t>
            </a:r>
            <a:endParaRPr lang="en-US" sz="1400" dirty="0"/>
          </a:p>
        </p:txBody>
      </p:sp>
      <p:sp>
        <p:nvSpPr>
          <p:cNvPr id="25" name="Text 20"/>
          <p:cNvSpPr txBox="1"/>
          <p:nvPr/>
        </p:nvSpPr>
        <p:spPr>
          <a:xfrm>
            <a:off x="1097280" y="4800600"/>
            <a:ext cx="4572000" cy="274320"/>
          </a:xfrm>
          <a:prstGeom prst="rect">
            <a:avLst/>
          </a:prstGeom>
          <a:noFill/>
          <a:ln/>
        </p:spPr>
        <p:txBody>
          <a:bodyPr wrap="square" lIns="0" tIns="0" rIns="0" bIns="0" rtlCol="0" anchor="ctr"/>
          <a:lstStyle/>
          <a:p>
            <a:pPr indent="0" marL="0">
              <a:buNone/>
            </a:pPr>
            <a:r>
              <a:rPr lang="en-US" sz="1200" i="1" dirty="0">
                <a:solidFill>
                  <a:schemeClr val="accent5"/>
                </a:solidFill>
              </a:rPr>
              <a:t>Next</a:t>
            </a:r>
            <a:endParaRPr lang="en-US" sz="1200" dirty="0"/>
          </a:p>
        </p:txBody>
      </p:sp>
      <p:sp>
        <p:nvSpPr>
          <p:cNvPr id="26" name="Phase 6 dot"/>
          <p:cNvSpPr/>
          <p:nvPr/>
        </p:nvSpPr>
        <p:spPr>
          <a:xfrm>
            <a:off x="548640" y="5367528"/>
            <a:ext cx="384048" cy="384048"/>
          </a:xfrm>
          <a:prstGeom prst="ellipse">
            <a:avLst/>
          </a:prstGeom>
          <a:solidFill>
            <a:srgbClr val="C9D3DD"/>
          </a:solidFill>
          <a:ln w="12700">
            <a:solidFill>
              <a:srgbClr val="C9D3DD"/>
            </a:solidFill>
            <a:prstDash val="solid"/>
          </a:ln>
        </p:spPr>
      </p:sp>
      <p:sp>
        <p:nvSpPr>
          <p:cNvPr id="27" name="Text 22"/>
          <p:cNvSpPr txBox="1"/>
          <p:nvPr/>
        </p:nvSpPr>
        <p:spPr>
          <a:xfrm>
            <a:off x="1097280" y="5276088"/>
            <a:ext cx="4572000" cy="320040"/>
          </a:xfrm>
          <a:prstGeom prst="rect">
            <a:avLst/>
          </a:prstGeom>
          <a:noFill/>
          <a:ln/>
        </p:spPr>
        <p:txBody>
          <a:bodyPr wrap="square" lIns="0" tIns="0" rIns="0" bIns="0" rtlCol="0" anchor="ctr"/>
          <a:lstStyle/>
          <a:p>
            <a:pPr indent="0" marL="0">
              <a:buNone/>
            </a:pPr>
            <a:r>
              <a:rPr lang="en-US" sz="1400" b="1" dirty="0">
                <a:solidFill>
                  <a:schemeClr val="tx2"/>
                </a:solidFill>
              </a:rPr>
              <a:t>Weeks 18–20  </a:t>
            </a:r>
            <a:pPr indent="0" marL="0">
              <a:buNone/>
            </a:pPr>
            <a:r>
              <a:rPr lang="en-US" sz="1400" dirty="0">
                <a:solidFill>
                  <a:schemeClr val="tx1"/>
                </a:solidFill>
              </a:rPr>
              <a:t>Sealed test, paper, release</a:t>
            </a:r>
            <a:endParaRPr lang="en-US" sz="1400" dirty="0"/>
          </a:p>
        </p:txBody>
      </p:sp>
      <p:sp>
        <p:nvSpPr>
          <p:cNvPr id="28" name="Text 23"/>
          <p:cNvSpPr txBox="1"/>
          <p:nvPr/>
        </p:nvSpPr>
        <p:spPr>
          <a:xfrm>
            <a:off x="1097280" y="5605272"/>
            <a:ext cx="4572000" cy="274320"/>
          </a:xfrm>
          <a:prstGeom prst="rect">
            <a:avLst/>
          </a:prstGeom>
          <a:noFill/>
          <a:ln/>
        </p:spPr>
        <p:txBody>
          <a:bodyPr wrap="square" lIns="0" tIns="0" rIns="0" bIns="0" rtlCol="0" anchor="ctr"/>
          <a:lstStyle/>
          <a:p>
            <a:pPr indent="0" marL="0">
              <a:buNone/>
            </a:pPr>
            <a:r>
              <a:rPr lang="en-US" sz="1200" i="1" dirty="0">
                <a:solidFill>
                  <a:schemeClr val="accent5"/>
                </a:solidFill>
              </a:rPr>
              <a:t>Planned</a:t>
            </a:r>
            <a:endParaRPr lang="en-US" sz="1200" dirty="0"/>
          </a:p>
        </p:txBody>
      </p:sp>
      <p:sp>
        <p:nvSpPr>
          <p:cNvPr id="29" name="Text 24"/>
          <p:cNvSpPr txBox="1"/>
          <p:nvPr/>
        </p:nvSpPr>
        <p:spPr>
          <a:xfrm>
            <a:off x="6172200" y="1188720"/>
            <a:ext cx="5468112" cy="320040"/>
          </a:xfrm>
          <a:prstGeom prst="rect">
            <a:avLst/>
          </a:prstGeom>
          <a:noFill/>
          <a:ln/>
        </p:spPr>
        <p:txBody>
          <a:bodyPr wrap="square" lIns="0" tIns="0" rIns="0" bIns="0" rtlCol="0" anchor="ctr"/>
          <a:lstStyle/>
          <a:p>
            <a:pPr indent="0" marL="0">
              <a:buNone/>
            </a:pPr>
            <a:r>
              <a:rPr lang="en-US" sz="1500" b="1" dirty="0">
                <a:solidFill>
                  <a:schemeClr val="tx2"/>
                </a:solidFill>
              </a:rPr>
              <a:t>Key results so far (validation data, HI-Medium)</a:t>
            </a:r>
            <a:endParaRPr lang="en-US" sz="1500" dirty="0"/>
          </a:p>
        </p:txBody>
      </p:sp>
      <p:sp>
        <p:nvSpPr>
          <p:cNvPr id="30" name="Result 1 card"/>
          <p:cNvSpPr/>
          <p:nvPr/>
        </p:nvSpPr>
        <p:spPr>
          <a:xfrm>
            <a:off x="6172200" y="1645920"/>
            <a:ext cx="2596896"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31" name="Text 26"/>
          <p:cNvSpPr txBox="1"/>
          <p:nvPr/>
        </p:nvSpPr>
        <p:spPr>
          <a:xfrm>
            <a:off x="6355080" y="1755648"/>
            <a:ext cx="2231136"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0.17 → 0.73</a:t>
            </a:r>
            <a:endParaRPr lang="en-US" sz="2800" dirty="0"/>
          </a:p>
        </p:txBody>
      </p:sp>
      <p:sp>
        <p:nvSpPr>
          <p:cNvPr id="32" name="Text 27"/>
          <p:cNvSpPr txBox="1"/>
          <p:nvPr/>
        </p:nvSpPr>
        <p:spPr>
          <a:xfrm>
            <a:off x="6355080" y="2377440"/>
            <a:ext cx="2231136" cy="731520"/>
          </a:xfrm>
          <a:prstGeom prst="rect">
            <a:avLst/>
          </a:prstGeom>
          <a:noFill/>
          <a:ln/>
        </p:spPr>
        <p:txBody>
          <a:bodyPr wrap="square" lIns="0" tIns="0" rIns="0" bIns="0" rtlCol="0" anchor="t"/>
          <a:lstStyle/>
          <a:p>
            <a:pPr indent="0" marL="0">
              <a:buNone/>
            </a:pPr>
            <a:r>
              <a:rPr lang="en-US" sz="1200" dirty="0">
                <a:solidFill>
                  <a:schemeClr val="tx1"/>
                </a:solidFill>
              </a:rPr>
              <a:t>laundering schemes linked across banks: no sharing vs sharing alert flags</a:t>
            </a:r>
            <a:endParaRPr lang="en-US" sz="1200" dirty="0"/>
          </a:p>
        </p:txBody>
      </p:sp>
      <p:sp>
        <p:nvSpPr>
          <p:cNvPr id="33" name="Result 2 card"/>
          <p:cNvSpPr/>
          <p:nvPr/>
        </p:nvSpPr>
        <p:spPr>
          <a:xfrm>
            <a:off x="9043416" y="1645920"/>
            <a:ext cx="2596896"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34" name="Text 29"/>
          <p:cNvSpPr txBox="1"/>
          <p:nvPr/>
        </p:nvSpPr>
        <p:spPr>
          <a:xfrm>
            <a:off x="9226296" y="1755648"/>
            <a:ext cx="2231136"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97%</a:t>
            </a:r>
            <a:endParaRPr lang="en-US" sz="2800" dirty="0"/>
          </a:p>
        </p:txBody>
      </p:sp>
      <p:sp>
        <p:nvSpPr>
          <p:cNvPr id="35" name="Text 30"/>
          <p:cNvSpPr txBox="1"/>
          <p:nvPr/>
        </p:nvSpPr>
        <p:spPr>
          <a:xfrm>
            <a:off x="9226296" y="2377440"/>
            <a:ext cx="2231136" cy="731520"/>
          </a:xfrm>
          <a:prstGeom prst="rect">
            <a:avLst/>
          </a:prstGeom>
          <a:noFill/>
          <a:ln/>
        </p:spPr>
        <p:txBody>
          <a:bodyPr wrap="square" lIns="0" tIns="0" rIns="0" bIns="0" rtlCol="0" anchor="t"/>
          <a:lstStyle/>
          <a:p>
            <a:pPr indent="0" marL="0">
              <a:buNone/>
            </a:pPr>
            <a:r>
              <a:rPr lang="en-US" sz="1200" dirty="0">
                <a:solidFill>
                  <a:schemeClr val="tx1"/>
                </a:solidFill>
              </a:rPr>
              <a:t>of the full-data-pooling benefit reached by sharing alert flags alone</a:t>
            </a:r>
            <a:endParaRPr lang="en-US" sz="1200" dirty="0"/>
          </a:p>
        </p:txBody>
      </p:sp>
      <p:sp>
        <p:nvSpPr>
          <p:cNvPr id="36" name="Result 3 card"/>
          <p:cNvSpPr/>
          <p:nvPr/>
        </p:nvSpPr>
        <p:spPr>
          <a:xfrm>
            <a:off x="6172200" y="3337560"/>
            <a:ext cx="2596896"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37" name="Text 32"/>
          <p:cNvSpPr txBox="1"/>
          <p:nvPr/>
        </p:nvSpPr>
        <p:spPr>
          <a:xfrm>
            <a:off x="6355080" y="3447288"/>
            <a:ext cx="2231136" cy="59436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11×</a:t>
            </a:r>
            <a:endParaRPr lang="en-US" sz="2800" dirty="0"/>
          </a:p>
        </p:txBody>
      </p:sp>
      <p:sp>
        <p:nvSpPr>
          <p:cNvPr id="38" name="Text 33"/>
          <p:cNvSpPr txBox="1"/>
          <p:nvPr/>
        </p:nvSpPr>
        <p:spPr>
          <a:xfrm>
            <a:off x="6355080" y="4069080"/>
            <a:ext cx="2231136" cy="731520"/>
          </a:xfrm>
          <a:prstGeom prst="rect">
            <a:avLst/>
          </a:prstGeom>
          <a:noFill/>
          <a:ln/>
        </p:spPr>
        <p:txBody>
          <a:bodyPr wrap="square" lIns="0" tIns="0" rIns="0" bIns="0" rtlCol="0" anchor="t"/>
          <a:lstStyle/>
          <a:p>
            <a:pPr indent="0" marL="0">
              <a:buNone/>
            </a:pPr>
            <a:r>
              <a:rPr lang="en-US" sz="1200" dirty="0">
                <a:solidFill>
                  <a:schemeClr val="tx1"/>
                </a:solidFill>
              </a:rPr>
              <a:t>harder to re-identify accounts with OPRF tokens than with shared-key hashing</a:t>
            </a:r>
            <a:endParaRPr lang="en-US" sz="1200" dirty="0"/>
          </a:p>
        </p:txBody>
      </p:sp>
      <p:sp>
        <p:nvSpPr>
          <p:cNvPr id="39" name="Result 4 card"/>
          <p:cNvSpPr/>
          <p:nvPr/>
        </p:nvSpPr>
        <p:spPr>
          <a:xfrm>
            <a:off x="9043416" y="3337560"/>
            <a:ext cx="2596896"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9AA5B1">
                <a:alpha val="35000"/>
              </a:srgbClr>
            </a:outerShdw>
          </a:effectLst>
        </p:spPr>
      </p:sp>
      <p:sp>
        <p:nvSpPr>
          <p:cNvPr id="40" name="Text 35"/>
          <p:cNvSpPr txBox="1"/>
          <p:nvPr/>
        </p:nvSpPr>
        <p:spPr>
          <a:xfrm>
            <a:off x="9226296" y="3447288"/>
            <a:ext cx="2231136" cy="59436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3,750 → 11</a:t>
            </a:r>
            <a:endParaRPr lang="en-US" sz="2800" dirty="0"/>
          </a:p>
        </p:txBody>
      </p:sp>
      <p:sp>
        <p:nvSpPr>
          <p:cNvPr id="41" name="Text 36"/>
          <p:cNvSpPr txBox="1"/>
          <p:nvPr/>
        </p:nvSpPr>
        <p:spPr>
          <a:xfrm>
            <a:off x="9226296" y="4069080"/>
            <a:ext cx="2231136" cy="731520"/>
          </a:xfrm>
          <a:prstGeom prst="rect">
            <a:avLst/>
          </a:prstGeom>
          <a:noFill/>
          <a:ln/>
        </p:spPr>
        <p:txBody>
          <a:bodyPr wrap="square" lIns="0" tIns="0" rIns="0" bIns="0" rtlCol="0" anchor="t"/>
          <a:lstStyle/>
          <a:p>
            <a:pPr indent="0" marL="0">
              <a:buNone/>
            </a:pPr>
            <a:r>
              <a:rPr lang="en-US" sz="1200" dirty="0">
                <a:solidFill>
                  <a:schemeClr val="tx1"/>
                </a:solidFill>
              </a:rPr>
              <a:t>most other accounts one account can affect, after capping connections</a:t>
            </a:r>
            <a:endParaRPr lang="en-US" sz="1200" dirty="0"/>
          </a:p>
        </p:txBody>
      </p:sp>
      <p:sp>
        <p:nvSpPr>
          <p:cNvPr id="42" name="Insight banner"/>
          <p:cNvSpPr/>
          <p:nvPr/>
        </p:nvSpPr>
        <p:spPr>
          <a:xfrm>
            <a:off x="6172200" y="5120640"/>
            <a:ext cx="5468112" cy="1097280"/>
          </a:xfrm>
          <a:prstGeom prst="roundRect">
            <a:avLst>
              <a:gd name="adj" fmla="val 10000"/>
            </a:avLst>
          </a:prstGeom>
          <a:solidFill>
            <a:schemeClr val="tx2"/>
          </a:solidFill>
          <a:ln w="12700">
            <a:solidFill>
              <a:schemeClr val="tx2"/>
            </a:solidFill>
            <a:prstDash val="solid"/>
          </a:ln>
          <a:effectLst>
            <a:outerShdw sx="100000" sy="100000" kx="0" ky="0" algn="bl" rotWithShape="0" blurRad="76200" dist="25400" dir="5400000">
              <a:srgbClr val="9AA5B1">
                <a:alpha val="35000"/>
              </a:srgbClr>
            </a:outerShdw>
          </a:effectLst>
        </p:spPr>
      </p:sp>
      <p:sp>
        <p:nvSpPr>
          <p:cNvPr id="43" name="Text 38"/>
          <p:cNvSpPr txBox="1"/>
          <p:nvPr/>
        </p:nvSpPr>
        <p:spPr>
          <a:xfrm>
            <a:off x="6446520" y="5120640"/>
            <a:ext cx="4919472" cy="1097280"/>
          </a:xfrm>
          <a:prstGeom prst="rect">
            <a:avLst/>
          </a:prstGeom>
          <a:noFill/>
          <a:ln/>
        </p:spPr>
        <p:txBody>
          <a:bodyPr wrap="square" lIns="0" tIns="0" rIns="0" bIns="0" rtlCol="0" anchor="ctr"/>
          <a:lstStyle/>
          <a:p>
            <a:pPr indent="0" marL="0">
              <a:buNone/>
            </a:pPr>
            <a:r>
              <a:rPr lang="en-US" sz="1400" b="1" dirty="0">
                <a:solidFill>
                  <a:schemeClr val="accent2"/>
                </a:solidFill>
              </a:rPr>
              <a:t>Main insight: </a:t>
            </a:r>
            <a:pPr indent="0" marL="0">
              <a:buNone/>
            </a:pPr>
            <a:r>
              <a:rPr lang="en-US" sz="1400" dirty="0">
                <a:solidFill>
                  <a:schemeClr val="bg1"/>
                </a:solidFill>
              </a:rPr>
              <a:t>share alerts, not full records. Records add only about 1 point of detection, but let a peer bank work out an account's activity level 88% of the time (7% without records).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inMesh Review">
  <a:themeElements>
    <a:clrScheme name="FinMesh Review">
      <a:dk1>
        <a:srgbClr val="1F2937"/>
      </a:dk1>
      <a:lt1>
        <a:srgbClr val="FFFFFF"/>
      </a:lt1>
      <a:dk2>
        <a:srgbClr val="13294B"/>
      </a:dk2>
      <a:lt2>
        <a:srgbClr val="EEF3F8"/>
      </a:lt2>
      <a:accent1>
        <a:srgbClr val="0F7C7C"/>
      </a:accent1>
      <a:accent2>
        <a:srgbClr val="E09A2B"/>
      </a:accent2>
      <a:accent3>
        <a:srgbClr val="B23A48"/>
      </a:accent3>
      <a:accent4>
        <a:srgbClr val="2E6DA4"/>
      </a:accent4>
      <a:accent5>
        <a:srgbClr val="6B7280"/>
      </a:accent5>
      <a:accent6>
        <a:srgbClr val="D6ECEA"/>
      </a:accent6>
      <a:hlink>
        <a:srgbClr val="2E6DA4"/>
      </a:hlink>
      <a:folHlink>
        <a:srgbClr val="6B7280"/>
      </a:folHlink>
    </a:clrScheme>
    <a:fontScheme name="FinMesh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FinMesh — Review 0</dc:title>
  <dc:subject>PptxGenJS Presentation</dc:subject>
  <dc:creator>Allaudin Ansari, Ravi Sah (Batch B58)</dc:creator>
  <cp:lastModifiedBy>Allaudin Ansari, Ravi Sah (Batch B58)</cp:lastModifiedBy>
  <cp:revision>1</cp:revision>
  <dcterms:created xsi:type="dcterms:W3CDTF">2026-10-30T17:47:47Z</dcterms:created>
  <dcterms:modified xsi:type="dcterms:W3CDTF">2026-10-30T17:47:47Z</dcterms:modified>
</cp:coreProperties>
</file>